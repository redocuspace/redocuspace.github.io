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7" r:id="rId8"/>
    <p:sldId id="271" r:id="rId9"/>
    <p:sldId id="269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8" r:id="rId19"/>
    <p:sldId id="265" r:id="rId20"/>
    <p:sldId id="266" r:id="rId21"/>
    <p:sldId id="260" r:id="rId22"/>
    <p:sldId id="261" r:id="rId23"/>
    <p:sldId id="273" r:id="rId24"/>
    <p:sldId id="26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271CE-8D8D-4900-B7E8-562B7DD8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8BA1E6-1FCD-43BA-A5D6-CE16D9924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4AEAE-0DD9-45E5-9FBC-319007DC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EE0A-2E39-44B2-B2C1-028A4AD64EEF}" type="datetimeFigureOut">
              <a:rPr lang="ko-KR" altLang="en-US" smtClean="0"/>
              <a:t>2022-04-02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494D-ECBB-4685-B470-78625C1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CEB83-0546-43CA-9A7D-F06AC615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1C20-7A5B-4448-8DE1-A35F061AB1B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B6F5A7-9577-405D-952B-4C70B2E08CEB}"/>
              </a:ext>
            </a:extLst>
          </p:cNvPr>
          <p:cNvSpPr/>
          <p:nvPr userDrawn="1"/>
        </p:nvSpPr>
        <p:spPr>
          <a:xfrm>
            <a:off x="0" y="1"/>
            <a:ext cx="12192000" cy="7298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820826-8822-41B1-8399-62643F44F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0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1800D2-9577-4601-90D1-BF89078D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A56213-01D6-41EA-A0EA-509B7B2D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3429D-C3FC-443E-8A94-AF310470A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AEE0A-2E39-44B2-B2C1-028A4AD64EEF}" type="datetimeFigureOut">
              <a:rPr lang="ko-KR" altLang="en-US" smtClean="0"/>
              <a:t>2022-04-02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4A90CC-EFAC-41F3-8C31-58217229F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957BD1-70B0-416E-9020-AC5A5FE5B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41C20-7A5B-4448-8DE1-A35F061AB1B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628DC1-AFE3-4612-9850-0DDFF7C5E784}"/>
              </a:ext>
            </a:extLst>
          </p:cNvPr>
          <p:cNvSpPr/>
          <p:nvPr userDrawn="1"/>
        </p:nvSpPr>
        <p:spPr>
          <a:xfrm>
            <a:off x="0" y="1"/>
            <a:ext cx="12192000" cy="7298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1C6330-78ED-47EF-8BF0-9C78DD29F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7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B4E7A3-291C-44B2-89E0-FA2C1A60F4C0}"/>
              </a:ext>
            </a:extLst>
          </p:cNvPr>
          <p:cNvCxnSpPr>
            <a:cxnSpLocks/>
          </p:cNvCxnSpPr>
          <p:nvPr/>
        </p:nvCxnSpPr>
        <p:spPr>
          <a:xfrm>
            <a:off x="2467063" y="2751587"/>
            <a:ext cx="7257875" cy="0"/>
          </a:xfrm>
          <a:prstGeom prst="line">
            <a:avLst/>
          </a:prstGeom>
          <a:ln w="127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CC8AC3-4E0C-4A96-8F9A-8FC3E8AE72CB}"/>
              </a:ext>
            </a:extLst>
          </p:cNvPr>
          <p:cNvSpPr/>
          <p:nvPr/>
        </p:nvSpPr>
        <p:spPr>
          <a:xfrm>
            <a:off x="0" y="1"/>
            <a:ext cx="5334000" cy="2684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WORKBOOK_DOCUMENT </a:t>
            </a:r>
            <a:r>
              <a:rPr lang="ko-KR" altLang="en-US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001</a:t>
            </a:r>
            <a:endParaRPr lang="ko-KR" altLang="en-US" sz="16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1C8291-EA61-40D6-90CE-6B138779CBB5}"/>
              </a:ext>
            </a:extLst>
          </p:cNvPr>
          <p:cNvSpPr/>
          <p:nvPr/>
        </p:nvSpPr>
        <p:spPr>
          <a:xfrm>
            <a:off x="2467063" y="1730237"/>
            <a:ext cx="7257874" cy="1015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ko-KR" altLang="en-US" sz="4800" dirty="0"/>
              <a:t>프로그래밍 언어학 개론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F0A100F-039B-46D7-8274-6F03D0E21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8E5DFE5-6EA6-477F-8440-13E75B68EC18}"/>
              </a:ext>
            </a:extLst>
          </p:cNvPr>
          <p:cNvSpPr/>
          <p:nvPr/>
        </p:nvSpPr>
        <p:spPr>
          <a:xfrm>
            <a:off x="9103108" y="5201179"/>
            <a:ext cx="2285300" cy="3523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작업자 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: </a:t>
            </a:r>
            <a:r>
              <a:rPr lang="en-US" altLang="ko-KR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ReDocu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  </a:t>
            </a:r>
            <a:endParaRPr lang="ko-KR" altLang="en-US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451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6EE314-BE0C-468C-AD0A-C6868E9811A8}"/>
              </a:ext>
            </a:extLst>
          </p:cNvPr>
          <p:cNvSpPr/>
          <p:nvPr/>
        </p:nvSpPr>
        <p:spPr>
          <a:xfrm>
            <a:off x="763398" y="1182848"/>
            <a:ext cx="3808602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프로그램과 언어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568BF4-ED2B-410F-B4E1-CE13CCB9B437}"/>
              </a:ext>
            </a:extLst>
          </p:cNvPr>
          <p:cNvSpPr/>
          <p:nvPr/>
        </p:nvSpPr>
        <p:spPr>
          <a:xfrm>
            <a:off x="763397" y="1921079"/>
            <a:ext cx="380860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프로그래밍 언어의 기본 문법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48CC6D4-8C3C-484D-9AD0-193279DCE4EF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890106-EA7C-4095-8E29-890679A4A7FA}"/>
              </a:ext>
            </a:extLst>
          </p:cNvPr>
          <p:cNvSpPr/>
          <p:nvPr/>
        </p:nvSpPr>
        <p:spPr>
          <a:xfrm>
            <a:off x="763397" y="2659310"/>
            <a:ext cx="380860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관리 및 자료구조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0CD889-0107-4605-869A-4F595CB469A4}"/>
              </a:ext>
            </a:extLst>
          </p:cNvPr>
          <p:cNvSpPr/>
          <p:nvPr/>
        </p:nvSpPr>
        <p:spPr>
          <a:xfrm>
            <a:off x="763397" y="3397541"/>
            <a:ext cx="380860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MS </a:t>
            </a:r>
            <a:r>
              <a:rPr lang="ko-KR" altLang="en-US" dirty="0"/>
              <a:t>언어의 발전 과정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8E7008-8389-4D4F-A0BC-8F27F57A01EE}"/>
              </a:ext>
            </a:extLst>
          </p:cNvPr>
          <p:cNvSpPr/>
          <p:nvPr/>
        </p:nvSpPr>
        <p:spPr>
          <a:xfrm>
            <a:off x="763396" y="4135772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4-1. C</a:t>
            </a:r>
            <a:r>
              <a:rPr lang="ko-KR" altLang="en-US" dirty="0"/>
              <a:t>언어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D1D3D3-CFFD-4A0A-860E-2274AB6F67FC}"/>
              </a:ext>
            </a:extLst>
          </p:cNvPr>
          <p:cNvSpPr/>
          <p:nvPr/>
        </p:nvSpPr>
        <p:spPr>
          <a:xfrm>
            <a:off x="763396" y="4785919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4-2. C++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71FB35-9C7C-4C6C-9B69-27976EF3B886}"/>
              </a:ext>
            </a:extLst>
          </p:cNvPr>
          <p:cNvSpPr/>
          <p:nvPr/>
        </p:nvSpPr>
        <p:spPr>
          <a:xfrm>
            <a:off x="763395" y="5436066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4-3. C#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7F62CC-2C0F-4F21-A17F-C7F6B414B338}"/>
              </a:ext>
            </a:extLst>
          </p:cNvPr>
          <p:cNvSpPr/>
          <p:nvPr/>
        </p:nvSpPr>
        <p:spPr>
          <a:xfrm>
            <a:off x="5392722" y="1182848"/>
            <a:ext cx="343389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5. </a:t>
            </a:r>
            <a:r>
              <a:rPr lang="ko-KR" altLang="en-US" dirty="0"/>
              <a:t>업무 프로세스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2FBA59-77DD-4853-B748-1A181088283B}"/>
              </a:ext>
            </a:extLst>
          </p:cNvPr>
          <p:cNvSpPr/>
          <p:nvPr/>
        </p:nvSpPr>
        <p:spPr>
          <a:xfrm>
            <a:off x="5392720" y="2476852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5-2. </a:t>
            </a:r>
            <a:r>
              <a:rPr lang="ko-KR" altLang="en-US" dirty="0"/>
              <a:t>라이브러리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468985-2539-432A-A888-5304754C270A}"/>
              </a:ext>
            </a:extLst>
          </p:cNvPr>
          <p:cNvSpPr/>
          <p:nvPr/>
        </p:nvSpPr>
        <p:spPr>
          <a:xfrm>
            <a:off x="5392720" y="3126999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5-3. </a:t>
            </a:r>
            <a:r>
              <a:rPr lang="ko-KR" altLang="en-US" dirty="0"/>
              <a:t>프레임워크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435459-A362-499D-BB57-B128C734CB46}"/>
              </a:ext>
            </a:extLst>
          </p:cNvPr>
          <p:cNvSpPr/>
          <p:nvPr/>
        </p:nvSpPr>
        <p:spPr>
          <a:xfrm>
            <a:off x="5392720" y="3777146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5-4. </a:t>
            </a:r>
            <a:r>
              <a:rPr lang="ko-KR" altLang="en-US" dirty="0"/>
              <a:t>개발 엔진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01906A-EED4-45D8-81F9-4A9B71657CC2}"/>
              </a:ext>
            </a:extLst>
          </p:cNvPr>
          <p:cNvSpPr/>
          <p:nvPr/>
        </p:nvSpPr>
        <p:spPr>
          <a:xfrm>
            <a:off x="5392720" y="1826705"/>
            <a:ext cx="2130805" cy="41944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5-1. </a:t>
            </a:r>
            <a:r>
              <a:rPr lang="ko-KR" altLang="en-US" dirty="0"/>
              <a:t>업무 분할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DA1D2C9-7344-4066-9377-0DD7321DA3AA}"/>
              </a:ext>
            </a:extLst>
          </p:cNvPr>
          <p:cNvSpPr/>
          <p:nvPr/>
        </p:nvSpPr>
        <p:spPr>
          <a:xfrm>
            <a:off x="5392722" y="4603462"/>
            <a:ext cx="343389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6. </a:t>
            </a:r>
            <a:r>
              <a:rPr lang="ko-KR" altLang="en-US" dirty="0"/>
              <a:t>요약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749AC3-EC5E-4266-AE9C-804D6BDC786F}"/>
              </a:ext>
            </a:extLst>
          </p:cNvPr>
          <p:cNvSpPr/>
          <p:nvPr/>
        </p:nvSpPr>
        <p:spPr>
          <a:xfrm>
            <a:off x="5392722" y="5436066"/>
            <a:ext cx="343389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7. </a:t>
            </a:r>
            <a:r>
              <a:rPr lang="ko-KR" altLang="en-US" dirty="0"/>
              <a:t>참고 문헌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23E2C9-F60A-4892-9B88-7F16EE152272}"/>
              </a:ext>
            </a:extLst>
          </p:cNvPr>
          <p:cNvSpPr/>
          <p:nvPr/>
        </p:nvSpPr>
        <p:spPr>
          <a:xfrm>
            <a:off x="9647339" y="729843"/>
            <a:ext cx="2544661" cy="586390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88774B-170C-4792-9E5F-680F824673BC}"/>
              </a:ext>
            </a:extLst>
          </p:cNvPr>
          <p:cNvSpPr/>
          <p:nvPr/>
        </p:nvSpPr>
        <p:spPr>
          <a:xfrm>
            <a:off x="9813021" y="1182848"/>
            <a:ext cx="2213296" cy="221469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b="1" dirty="0">
                <a:solidFill>
                  <a:schemeClr val="bg2">
                    <a:lumMod val="1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개발 환경</a:t>
            </a:r>
          </a:p>
        </p:txBody>
      </p:sp>
    </p:spTree>
    <p:extLst>
      <p:ext uri="{BB962C8B-B14F-4D97-AF65-F5344CB8AC3E}">
        <p14:creationId xmlns:p14="http://schemas.microsoft.com/office/powerpoint/2010/main" val="12542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A25FF981-9D83-4F61-BADE-6745ABA827A4}"/>
              </a:ext>
            </a:extLst>
          </p:cNvPr>
          <p:cNvSpPr txBox="1"/>
          <p:nvPr/>
        </p:nvSpPr>
        <p:spPr>
          <a:xfrm>
            <a:off x="7585047" y="1123076"/>
            <a:ext cx="4138567" cy="2751587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프로그램과 언어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99B18D-7099-440C-8754-C73031C9B968}"/>
              </a:ext>
            </a:extLst>
          </p:cNvPr>
          <p:cNvSpPr/>
          <p:nvPr/>
        </p:nvSpPr>
        <p:spPr>
          <a:xfrm>
            <a:off x="553671" y="1123076"/>
            <a:ext cx="3481434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컴퓨터의 </a:t>
            </a:r>
            <a:r>
              <a:rPr lang="en-US" altLang="ko-KR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 구성요소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059D59-D9C7-4A74-9DE9-44C4B59412BD}"/>
              </a:ext>
            </a:extLst>
          </p:cNvPr>
          <p:cNvSpPr/>
          <p:nvPr/>
        </p:nvSpPr>
        <p:spPr>
          <a:xfrm>
            <a:off x="1001085" y="1929471"/>
            <a:ext cx="1303091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입력장치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F33F5-781E-480B-8BE1-5D34396C0E22}"/>
              </a:ext>
            </a:extLst>
          </p:cNvPr>
          <p:cNvSpPr/>
          <p:nvPr/>
        </p:nvSpPr>
        <p:spPr>
          <a:xfrm>
            <a:off x="2771162" y="1930519"/>
            <a:ext cx="142892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휴먼모음T" panose="02030504000101010101" pitchFamily="18" charset="-127"/>
                <a:ea typeface="휴먼모음T" panose="02030504000101010101" pitchFamily="18" charset="-127"/>
              </a:rPr>
              <a:t>중앙처리장치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60F65A-F44B-4E42-904A-587FD33F32FE}"/>
              </a:ext>
            </a:extLst>
          </p:cNvPr>
          <p:cNvSpPr/>
          <p:nvPr/>
        </p:nvSpPr>
        <p:spPr>
          <a:xfrm>
            <a:off x="1823206" y="2735866"/>
            <a:ext cx="142892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기억장치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C4C5CCB-19DE-4649-840D-8DEE16E3E248}"/>
              </a:ext>
            </a:extLst>
          </p:cNvPr>
          <p:cNvSpPr/>
          <p:nvPr/>
        </p:nvSpPr>
        <p:spPr>
          <a:xfrm>
            <a:off x="4667074" y="1929471"/>
            <a:ext cx="142892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출력장치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F179A5-E285-4A19-8E3D-EC8F7134EEC0}"/>
              </a:ext>
            </a:extLst>
          </p:cNvPr>
          <p:cNvSpPr/>
          <p:nvPr/>
        </p:nvSpPr>
        <p:spPr>
          <a:xfrm>
            <a:off x="3719118" y="2735865"/>
            <a:ext cx="142892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연산장치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A5F35AC-AD73-4F67-8E76-F2CBB9621D8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304176" y="2139196"/>
            <a:ext cx="466986" cy="1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60B46D2-45D0-42AF-BD49-B8AA641DC84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537669" y="2349968"/>
            <a:ext cx="947956" cy="3858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6A60DD7-63CC-4CBE-BC23-15A6A4B98A79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3252132" y="2945590"/>
            <a:ext cx="46698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0AF5941-F928-4B5C-A338-5E5485ECA5AF}"/>
              </a:ext>
            </a:extLst>
          </p:cNvPr>
          <p:cNvCxnSpPr>
            <a:cxnSpLocks/>
            <a:stCxn id="11" idx="0"/>
            <a:endCxn id="8" idx="2"/>
          </p:cNvCxnSpPr>
          <p:nvPr/>
        </p:nvCxnSpPr>
        <p:spPr>
          <a:xfrm flipH="1" flipV="1">
            <a:off x="3485625" y="2349968"/>
            <a:ext cx="947956" cy="385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7E54C97-C938-4D28-A72E-A7BD314F249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200088" y="2139196"/>
            <a:ext cx="466986" cy="1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2D620F-4903-423C-980D-95B091DECE60}"/>
              </a:ext>
            </a:extLst>
          </p:cNvPr>
          <p:cNvSpPr/>
          <p:nvPr/>
        </p:nvSpPr>
        <p:spPr>
          <a:xfrm>
            <a:off x="1252757" y="3344886"/>
            <a:ext cx="799748" cy="4194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사용자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2D6D43-2F73-49EC-9CF6-941F57480BA6}"/>
              </a:ext>
            </a:extLst>
          </p:cNvPr>
          <p:cNvSpPr/>
          <p:nvPr/>
        </p:nvSpPr>
        <p:spPr>
          <a:xfrm>
            <a:off x="4981663" y="3344885"/>
            <a:ext cx="799748" cy="4194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사용자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425C14B-4706-4588-A51C-716DA11EB5FC}"/>
              </a:ext>
            </a:extLst>
          </p:cNvPr>
          <p:cNvCxnSpPr>
            <a:cxnSpLocks/>
            <a:stCxn id="33" idx="0"/>
            <a:endCxn id="7" idx="2"/>
          </p:cNvCxnSpPr>
          <p:nvPr/>
        </p:nvCxnSpPr>
        <p:spPr>
          <a:xfrm flipV="1">
            <a:off x="1652631" y="2348920"/>
            <a:ext cx="0" cy="995966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E910E9C-22E2-4254-9B9E-A2C763FCE001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>
            <a:off x="5381537" y="2348920"/>
            <a:ext cx="0" cy="995965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E9FF5B0-B6DA-47D2-BF13-31771CE90D41}"/>
              </a:ext>
            </a:extLst>
          </p:cNvPr>
          <p:cNvSpPr/>
          <p:nvPr/>
        </p:nvSpPr>
        <p:spPr>
          <a:xfrm>
            <a:off x="9736468" y="1331259"/>
            <a:ext cx="1737917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키보드 입력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5A8DF9-F046-43BF-9386-B46AD295987C}"/>
              </a:ext>
            </a:extLst>
          </p:cNvPr>
          <p:cNvSpPr/>
          <p:nvPr/>
        </p:nvSpPr>
        <p:spPr>
          <a:xfrm>
            <a:off x="9736467" y="1705100"/>
            <a:ext cx="1737918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 값 확인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F618E8D-3F9B-4BB1-BE56-F6BB196D1342}"/>
              </a:ext>
            </a:extLst>
          </p:cNvPr>
          <p:cNvSpPr/>
          <p:nvPr/>
        </p:nvSpPr>
        <p:spPr>
          <a:xfrm>
            <a:off x="9736467" y="2092732"/>
            <a:ext cx="1737918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 확인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9918CCB-43AA-43E0-A1C2-C09966888254}"/>
              </a:ext>
            </a:extLst>
          </p:cNvPr>
          <p:cNvSpPr/>
          <p:nvPr/>
        </p:nvSpPr>
        <p:spPr>
          <a:xfrm>
            <a:off x="7740240" y="2092732"/>
            <a:ext cx="1561747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기존 명령 확인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B4967B-19B4-4E28-AAC0-15CC202BB45E}"/>
              </a:ext>
            </a:extLst>
          </p:cNvPr>
          <p:cNvSpPr/>
          <p:nvPr/>
        </p:nvSpPr>
        <p:spPr>
          <a:xfrm>
            <a:off x="9736467" y="2480364"/>
            <a:ext cx="1737918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명령에 따른 연산 시작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F132912-A9D3-4EC6-B9B8-A2AEEAC62154}"/>
              </a:ext>
            </a:extLst>
          </p:cNvPr>
          <p:cNvSpPr/>
          <p:nvPr/>
        </p:nvSpPr>
        <p:spPr>
          <a:xfrm>
            <a:off x="9736467" y="2867996"/>
            <a:ext cx="1737918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 결과 처리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9328211-06CE-4255-BC98-44886FEB9E4A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 flipH="1">
            <a:off x="10605426" y="1540983"/>
            <a:ext cx="1" cy="1641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45A4D1B-62BD-4204-9AD1-9FEDC5197A62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10605426" y="1914824"/>
            <a:ext cx="0" cy="1779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4060378-E2B0-4A14-A156-6F04D2222817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10605426" y="2690088"/>
            <a:ext cx="0" cy="1779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676DBF0-1A71-4F24-B7B9-9F1F5D0F20DB}"/>
              </a:ext>
            </a:extLst>
          </p:cNvPr>
          <p:cNvCxnSpPr>
            <a:cxnSpLocks/>
            <a:stCxn id="56" idx="1"/>
            <a:endCxn id="57" idx="3"/>
          </p:cNvCxnSpPr>
          <p:nvPr/>
        </p:nvCxnSpPr>
        <p:spPr>
          <a:xfrm flipH="1">
            <a:off x="9301987" y="2197594"/>
            <a:ext cx="4344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5DF339F-493E-4F2B-A5CA-8F83E64A9F19}"/>
              </a:ext>
            </a:extLst>
          </p:cNvPr>
          <p:cNvCxnSpPr>
            <a:cxnSpLocks/>
            <a:stCxn id="57" idx="2"/>
            <a:endCxn id="59" idx="1"/>
          </p:cNvCxnSpPr>
          <p:nvPr/>
        </p:nvCxnSpPr>
        <p:spPr>
          <a:xfrm>
            <a:off x="8521114" y="2302456"/>
            <a:ext cx="1215353" cy="282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B8F5897-AB32-45F4-A65D-DC36181073EA}"/>
              </a:ext>
            </a:extLst>
          </p:cNvPr>
          <p:cNvCxnSpPr>
            <a:cxnSpLocks/>
            <a:stCxn id="57" idx="2"/>
            <a:endCxn id="60" idx="1"/>
          </p:cNvCxnSpPr>
          <p:nvPr/>
        </p:nvCxnSpPr>
        <p:spPr>
          <a:xfrm>
            <a:off x="8521114" y="2302456"/>
            <a:ext cx="1215353" cy="6704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E30401A-4338-425A-9456-ED0C1945BF0B}"/>
              </a:ext>
            </a:extLst>
          </p:cNvPr>
          <p:cNvSpPr/>
          <p:nvPr/>
        </p:nvSpPr>
        <p:spPr>
          <a:xfrm>
            <a:off x="8904557" y="2721905"/>
            <a:ext cx="517320" cy="2097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YES</a:t>
            </a:r>
            <a:endParaRPr lang="ko-KR" altLang="en-US" sz="1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8BAE28C-8BEC-42C0-8B20-0DC13194E572}"/>
              </a:ext>
            </a:extLst>
          </p:cNvPr>
          <p:cNvSpPr/>
          <p:nvPr/>
        </p:nvSpPr>
        <p:spPr>
          <a:xfrm>
            <a:off x="9163217" y="2332514"/>
            <a:ext cx="517320" cy="2097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NO</a:t>
            </a:r>
            <a:endParaRPr lang="ko-KR" altLang="en-US" sz="1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699FE1D-80E2-49D1-8F0C-55D37AE6F5DE}"/>
              </a:ext>
            </a:extLst>
          </p:cNvPr>
          <p:cNvSpPr/>
          <p:nvPr/>
        </p:nvSpPr>
        <p:spPr>
          <a:xfrm>
            <a:off x="9736467" y="3255628"/>
            <a:ext cx="1737918" cy="2097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결과물 출력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37CB06E2-A378-4841-96D2-AC9B6A374314}"/>
              </a:ext>
            </a:extLst>
          </p:cNvPr>
          <p:cNvCxnSpPr>
            <a:cxnSpLocks/>
            <a:stCxn id="60" idx="2"/>
            <a:endCxn id="91" idx="0"/>
          </p:cNvCxnSpPr>
          <p:nvPr/>
        </p:nvCxnSpPr>
        <p:spPr>
          <a:xfrm>
            <a:off x="10605426" y="3077720"/>
            <a:ext cx="0" cy="1779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F2E982A-A63A-4A64-9DE3-FEBACC00F1EE}"/>
              </a:ext>
            </a:extLst>
          </p:cNvPr>
          <p:cNvSpPr/>
          <p:nvPr/>
        </p:nvSpPr>
        <p:spPr>
          <a:xfrm>
            <a:off x="8932878" y="3754977"/>
            <a:ext cx="1786853" cy="2782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 알고리즘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FDEBBC1-D08C-402E-BAE6-4B9B62EEE8AE}"/>
              </a:ext>
            </a:extLst>
          </p:cNvPr>
          <p:cNvSpPr/>
          <p:nvPr/>
        </p:nvSpPr>
        <p:spPr>
          <a:xfrm>
            <a:off x="601210" y="4394872"/>
            <a:ext cx="2931952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프로그램이란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…</a:t>
            </a: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6BB42E0-236E-4219-A34D-08CB4771DF6E}"/>
              </a:ext>
            </a:extLst>
          </p:cNvPr>
          <p:cNvSpPr/>
          <p:nvPr/>
        </p:nvSpPr>
        <p:spPr>
          <a:xfrm>
            <a:off x="3805809" y="4997923"/>
            <a:ext cx="799748" cy="4194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A53C49E-4C35-40CD-A34C-3538F7EAC1F5}"/>
              </a:ext>
            </a:extLst>
          </p:cNvPr>
          <p:cNvSpPr/>
          <p:nvPr/>
        </p:nvSpPr>
        <p:spPr>
          <a:xfrm>
            <a:off x="5495491" y="5003398"/>
            <a:ext cx="799748" cy="4194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5F7FA83-D405-4D91-A923-AB03D4A988B3}"/>
              </a:ext>
            </a:extLst>
          </p:cNvPr>
          <p:cNvSpPr/>
          <p:nvPr/>
        </p:nvSpPr>
        <p:spPr>
          <a:xfrm>
            <a:off x="7185173" y="4998740"/>
            <a:ext cx="799748" cy="4194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9A43933D-F722-4857-9F71-66E7455D7B28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>
            <a:off x="4605557" y="5207648"/>
            <a:ext cx="889934" cy="5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C9BB471-04D8-4BCE-A294-EC37EA65D3DE}"/>
              </a:ext>
            </a:extLst>
          </p:cNvPr>
          <p:cNvCxnSpPr>
            <a:cxnSpLocks/>
            <a:stCxn id="104" idx="3"/>
            <a:endCxn id="105" idx="1"/>
          </p:cNvCxnSpPr>
          <p:nvPr/>
        </p:nvCxnSpPr>
        <p:spPr>
          <a:xfrm flipV="1">
            <a:off x="6295239" y="5208465"/>
            <a:ext cx="889934" cy="4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D151D0D-9909-4D25-84EC-0BED8A9EBA9C}"/>
              </a:ext>
            </a:extLst>
          </p:cNvPr>
          <p:cNvSpPr/>
          <p:nvPr/>
        </p:nvSpPr>
        <p:spPr>
          <a:xfrm>
            <a:off x="601210" y="5595411"/>
            <a:ext cx="10873175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사용자가 특정 명령을 컴퓨터에게 제시하였을 때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그 명령에 맞게 연산한 결과물을 출력해주는 명령서 및 집합체  </a:t>
            </a:r>
          </a:p>
        </p:txBody>
      </p:sp>
    </p:spTree>
    <p:extLst>
      <p:ext uri="{BB962C8B-B14F-4D97-AF65-F5344CB8AC3E}">
        <p14:creationId xmlns:p14="http://schemas.microsoft.com/office/powerpoint/2010/main" val="185898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AFE5DA15-9B47-444C-8AEA-58ABA153D1DD}"/>
              </a:ext>
            </a:extLst>
          </p:cNvPr>
          <p:cNvSpPr/>
          <p:nvPr/>
        </p:nvSpPr>
        <p:spPr>
          <a:xfrm>
            <a:off x="6096000" y="2159792"/>
            <a:ext cx="5542326" cy="2538415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프로그램과 언어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99B18D-7099-440C-8754-C73031C9B968}"/>
              </a:ext>
            </a:extLst>
          </p:cNvPr>
          <p:cNvSpPr/>
          <p:nvPr/>
        </p:nvSpPr>
        <p:spPr>
          <a:xfrm>
            <a:off x="553673" y="1123076"/>
            <a:ext cx="2931952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컴퓨터의 언어</a:t>
            </a: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86C78DB4-1CEF-4B78-87DC-B1F04ACDF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459468"/>
              </p:ext>
            </p:extLst>
          </p:nvPr>
        </p:nvGraphicFramePr>
        <p:xfrm>
          <a:off x="553673" y="2241977"/>
          <a:ext cx="2961314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9901">
                  <a:extLst>
                    <a:ext uri="{9D8B030D-6E8A-4147-A177-3AD203B41FA5}">
                      <a16:colId xmlns:a16="http://schemas.microsoft.com/office/drawing/2014/main" val="970501379"/>
                    </a:ext>
                  </a:extLst>
                </a:gridCol>
                <a:gridCol w="956345">
                  <a:extLst>
                    <a:ext uri="{9D8B030D-6E8A-4147-A177-3AD203B41FA5}">
                      <a16:colId xmlns:a16="http://schemas.microsoft.com/office/drawing/2014/main" val="1358882527"/>
                    </a:ext>
                  </a:extLst>
                </a:gridCol>
                <a:gridCol w="1015068">
                  <a:extLst>
                    <a:ext uri="{9D8B030D-6E8A-4147-A177-3AD203B41FA5}">
                      <a16:colId xmlns:a16="http://schemas.microsoft.com/office/drawing/2014/main" val="2376837672"/>
                    </a:ext>
                  </a:extLst>
                </a:gridCol>
              </a:tblGrid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기계어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아스키 코드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사용자 언어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788652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10000001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227708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10000010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000686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10000011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34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446346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10000100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35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62714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10000101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36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25247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10000110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37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284978"/>
                  </a:ext>
                </a:extLst>
              </a:tr>
              <a:tr h="129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10000111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G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496606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4B323F-1A76-42DA-AABC-6F5E1E98E265}"/>
              </a:ext>
            </a:extLst>
          </p:cNvPr>
          <p:cNvSpPr/>
          <p:nvPr/>
        </p:nvSpPr>
        <p:spPr>
          <a:xfrm>
            <a:off x="3819780" y="2588164"/>
            <a:ext cx="357932" cy="12583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치환</a:t>
            </a:r>
          </a:p>
        </p:txBody>
      </p:sp>
      <p:graphicFrame>
        <p:nvGraphicFramePr>
          <p:cNvPr id="12" name="표 13">
            <a:extLst>
              <a:ext uri="{FF2B5EF4-FFF2-40B4-BE49-F238E27FC236}">
                <a16:creationId xmlns:a16="http://schemas.microsoft.com/office/drawing/2014/main" id="{D2B0EDDA-B692-4DCF-8E5E-5A305E4A7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263259"/>
              </p:ext>
            </p:extLst>
          </p:nvPr>
        </p:nvGraphicFramePr>
        <p:xfrm>
          <a:off x="553673" y="4390023"/>
          <a:ext cx="5176008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5846">
                  <a:extLst>
                    <a:ext uri="{9D8B030D-6E8A-4147-A177-3AD203B41FA5}">
                      <a16:colId xmlns:a16="http://schemas.microsoft.com/office/drawing/2014/main" val="2744982961"/>
                    </a:ext>
                  </a:extLst>
                </a:gridCol>
                <a:gridCol w="3710162">
                  <a:extLst>
                    <a:ext uri="{9D8B030D-6E8A-4147-A177-3AD203B41FA5}">
                      <a16:colId xmlns:a16="http://schemas.microsoft.com/office/drawing/2014/main" val="4242215213"/>
                    </a:ext>
                  </a:extLst>
                </a:gridCol>
              </a:tblGrid>
              <a:tr h="27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프로그래밍 언어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사용자가 알아볼 수 있는 언어 </a:t>
                      </a:r>
                      <a:r>
                        <a:rPr lang="en-US" altLang="ko-KR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= </a:t>
                      </a:r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아날로그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705568"/>
                  </a:ext>
                </a:extLst>
              </a:tr>
            </a:tbl>
          </a:graphicData>
        </a:graphic>
      </p:graphicFrame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85F7FBDD-EBA4-4177-9EDD-7C27B88A7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609299"/>
              </p:ext>
            </p:extLst>
          </p:nvPr>
        </p:nvGraphicFramePr>
        <p:xfrm>
          <a:off x="553673" y="1739851"/>
          <a:ext cx="5176008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5846">
                  <a:extLst>
                    <a:ext uri="{9D8B030D-6E8A-4147-A177-3AD203B41FA5}">
                      <a16:colId xmlns:a16="http://schemas.microsoft.com/office/drawing/2014/main" val="2744982961"/>
                    </a:ext>
                  </a:extLst>
                </a:gridCol>
                <a:gridCol w="3710162">
                  <a:extLst>
                    <a:ext uri="{9D8B030D-6E8A-4147-A177-3AD203B41FA5}">
                      <a16:colId xmlns:a16="http://schemas.microsoft.com/office/drawing/2014/main" val="4242215213"/>
                    </a:ext>
                  </a:extLst>
                </a:gridCol>
              </a:tblGrid>
              <a:tr h="27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기계어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</a:t>
                      </a:r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과 </a:t>
                      </a:r>
                      <a:r>
                        <a:rPr lang="en-US" altLang="ko-KR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1</a:t>
                      </a:r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로 구성된 연산 체계 </a:t>
                      </a:r>
                      <a:r>
                        <a:rPr lang="en-US" altLang="ko-KR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= </a:t>
                      </a:r>
                      <a:r>
                        <a:rPr lang="ko-KR" altLang="en-US" sz="14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디지털 언어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705568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8C0A96-9D3A-4800-B2CD-FDE15A71D100}"/>
              </a:ext>
            </a:extLst>
          </p:cNvPr>
          <p:cNvSpPr/>
          <p:nvPr/>
        </p:nvSpPr>
        <p:spPr>
          <a:xfrm>
            <a:off x="4337103" y="2588164"/>
            <a:ext cx="357932" cy="12583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1EC93E-B078-40D9-A32A-B2BB986628E5}"/>
              </a:ext>
            </a:extLst>
          </p:cNvPr>
          <p:cNvSpPr/>
          <p:nvPr/>
        </p:nvSpPr>
        <p:spPr>
          <a:xfrm>
            <a:off x="4854426" y="2588164"/>
            <a:ext cx="357932" cy="12583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객체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D505CD-F1BE-4EDF-BEA2-F25C6D901180}"/>
              </a:ext>
            </a:extLst>
          </p:cNvPr>
          <p:cNvSpPr/>
          <p:nvPr/>
        </p:nvSpPr>
        <p:spPr>
          <a:xfrm>
            <a:off x="5371749" y="2588164"/>
            <a:ext cx="357932" cy="12583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추상화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C3DDF7A-C9BD-4B60-B1FF-142A078FC1CF}"/>
              </a:ext>
            </a:extLst>
          </p:cNvPr>
          <p:cNvCxnSpPr>
            <a:cxnSpLocks/>
          </p:cNvCxnSpPr>
          <p:nvPr/>
        </p:nvCxnSpPr>
        <p:spPr>
          <a:xfrm>
            <a:off x="3819780" y="2463185"/>
            <a:ext cx="19099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1745C4F-A21F-4F98-AC5D-DC465C68158B}"/>
              </a:ext>
            </a:extLst>
          </p:cNvPr>
          <p:cNvCxnSpPr>
            <a:cxnSpLocks/>
          </p:cNvCxnSpPr>
          <p:nvPr/>
        </p:nvCxnSpPr>
        <p:spPr>
          <a:xfrm flipH="1">
            <a:off x="3819779" y="3980626"/>
            <a:ext cx="19099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83E85C-D66C-4AB2-9165-D1662A287160}"/>
              </a:ext>
            </a:extLst>
          </p:cNvPr>
          <p:cNvSpPr/>
          <p:nvPr/>
        </p:nvSpPr>
        <p:spPr>
          <a:xfrm>
            <a:off x="4411206" y="2149201"/>
            <a:ext cx="727048" cy="23309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고급언어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C40656-9131-48DD-BB14-5D25F586E8E2}"/>
              </a:ext>
            </a:extLst>
          </p:cNvPr>
          <p:cNvSpPr/>
          <p:nvPr/>
        </p:nvSpPr>
        <p:spPr>
          <a:xfrm>
            <a:off x="4411206" y="4068778"/>
            <a:ext cx="727048" cy="23309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저급언어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E6DFC5B-E299-47D6-BE7B-B66120D7E9E7}"/>
              </a:ext>
            </a:extLst>
          </p:cNvPr>
          <p:cNvCxnSpPr>
            <a:cxnSpLocks/>
            <a:stCxn id="13" idx="3"/>
            <a:endCxn id="12" idx="3"/>
          </p:cNvCxnSpPr>
          <p:nvPr/>
        </p:nvCxnSpPr>
        <p:spPr>
          <a:xfrm>
            <a:off x="5729681" y="1892251"/>
            <a:ext cx="12700" cy="265017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A50D29D-CF81-4CAA-97A9-4C847463DE8B}"/>
              </a:ext>
            </a:extLst>
          </p:cNvPr>
          <p:cNvSpPr/>
          <p:nvPr/>
        </p:nvSpPr>
        <p:spPr>
          <a:xfrm>
            <a:off x="6213469" y="2762291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번역기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28CA8D-F4CD-49E4-9199-8148C0039A27}"/>
              </a:ext>
            </a:extLst>
          </p:cNvPr>
          <p:cNvSpPr/>
          <p:nvPr/>
        </p:nvSpPr>
        <p:spPr>
          <a:xfrm>
            <a:off x="7422784" y="2762291"/>
            <a:ext cx="966167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컴파일러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569E90A-BC86-4506-9672-5F2A5888B24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109588" y="2940477"/>
            <a:ext cx="3131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1FF869-B607-4970-A107-414E1344AC47}"/>
              </a:ext>
            </a:extLst>
          </p:cNvPr>
          <p:cNvSpPr/>
          <p:nvPr/>
        </p:nvSpPr>
        <p:spPr>
          <a:xfrm>
            <a:off x="6214872" y="3739338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실행기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A986FB-D707-43D4-BB78-29655AD57809}"/>
              </a:ext>
            </a:extLst>
          </p:cNvPr>
          <p:cNvSpPr/>
          <p:nvPr/>
        </p:nvSpPr>
        <p:spPr>
          <a:xfrm>
            <a:off x="7424186" y="3739338"/>
            <a:ext cx="966171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인터프리터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3F0C36C-571C-4A29-9D39-F5719B98C625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7110991" y="3917524"/>
            <a:ext cx="3131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E0CA01-FEFD-4504-9338-B0712E52C352}"/>
              </a:ext>
            </a:extLst>
          </p:cNvPr>
          <p:cNvSpPr/>
          <p:nvPr/>
        </p:nvSpPr>
        <p:spPr>
          <a:xfrm>
            <a:off x="6095999" y="1739851"/>
            <a:ext cx="5542327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IDE(Integrated </a:t>
            </a:r>
            <a:r>
              <a:rPr lang="en-US" altLang="ko-KR" sz="1400">
                <a:latin typeface="휴먼모음T" panose="02030504000101010101" pitchFamily="18" charset="-127"/>
                <a:ea typeface="휴먼모음T" panose="02030504000101010101" pitchFamily="18" charset="-127"/>
              </a:rPr>
              <a:t>Development Environment)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통합 개발환경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AA18F6-51E8-4641-8247-0151820B1C8D}"/>
              </a:ext>
            </a:extLst>
          </p:cNvPr>
          <p:cNvSpPr/>
          <p:nvPr/>
        </p:nvSpPr>
        <p:spPr>
          <a:xfrm>
            <a:off x="8590327" y="2241702"/>
            <a:ext cx="1216400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latin typeface="휴먼모음T" panose="02030504000101010101" pitchFamily="18" charset="-127"/>
                <a:ea typeface="휴먼모음T" panose="02030504000101010101" pitchFamily="18" charset="-127"/>
              </a:rPr>
              <a:t>소스파일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122EB4-1C1B-4EA8-9B19-063A8EC1ABF4}"/>
              </a:ext>
            </a:extLst>
          </p:cNvPr>
          <p:cNvSpPr/>
          <p:nvPr/>
        </p:nvSpPr>
        <p:spPr>
          <a:xfrm>
            <a:off x="8590327" y="3226769"/>
            <a:ext cx="1216400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latin typeface="휴먼모음T" panose="02030504000101010101" pitchFamily="18" charset="-127"/>
                <a:ea typeface="휴먼모음T" panose="02030504000101010101" pitchFamily="18" charset="-127"/>
              </a:rPr>
              <a:t>오브젝트 파일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D2E3FE2-B400-4E7D-A1C4-99620B3FD4BB}"/>
              </a:ext>
            </a:extLst>
          </p:cNvPr>
          <p:cNvSpPr/>
          <p:nvPr/>
        </p:nvSpPr>
        <p:spPr>
          <a:xfrm>
            <a:off x="8590327" y="4211837"/>
            <a:ext cx="1216400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파일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B7C93EE-9AB7-47A1-A14C-5F40F07D1250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9198527" y="2598074"/>
            <a:ext cx="0" cy="6286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99CDC70-5DA1-49EE-BCB7-EFCE79EFCC3B}"/>
              </a:ext>
            </a:extLst>
          </p:cNvPr>
          <p:cNvSpPr/>
          <p:nvPr/>
        </p:nvSpPr>
        <p:spPr>
          <a:xfrm>
            <a:off x="8590327" y="2795875"/>
            <a:ext cx="1216400" cy="23309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기계어 번역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F70BF63-555B-48A4-B4B1-0A6BCFA542E8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198527" y="3583141"/>
            <a:ext cx="0" cy="6286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527D206-4A03-4485-ACED-1B314DEB9846}"/>
              </a:ext>
            </a:extLst>
          </p:cNvPr>
          <p:cNvSpPr/>
          <p:nvPr/>
        </p:nvSpPr>
        <p:spPr>
          <a:xfrm>
            <a:off x="8590327" y="3780942"/>
            <a:ext cx="1216400" cy="23309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실행명령 연결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C84127C-536F-4B68-8C4C-98EAEE459399}"/>
              </a:ext>
            </a:extLst>
          </p:cNvPr>
          <p:cNvSpPr/>
          <p:nvPr/>
        </p:nvSpPr>
        <p:spPr>
          <a:xfrm>
            <a:off x="10042227" y="2762291"/>
            <a:ext cx="966167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latin typeface="휴먼모음T" panose="02030504000101010101" pitchFamily="18" charset="-127"/>
                <a:ea typeface="휴먼모음T" panose="02030504000101010101" pitchFamily="18" charset="-127"/>
              </a:rPr>
              <a:t>컴파일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BAC83F2-AB2E-4832-A2D0-D7FE71123F00}"/>
              </a:ext>
            </a:extLst>
          </p:cNvPr>
          <p:cNvSpPr/>
          <p:nvPr/>
        </p:nvSpPr>
        <p:spPr>
          <a:xfrm>
            <a:off x="10043928" y="3736346"/>
            <a:ext cx="966167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링커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DF7136A-8030-4E0D-A3CC-4329F3F1A6F5}"/>
              </a:ext>
            </a:extLst>
          </p:cNvPr>
          <p:cNvSpPr/>
          <p:nvPr/>
        </p:nvSpPr>
        <p:spPr>
          <a:xfrm>
            <a:off x="553673" y="4932434"/>
            <a:ext cx="2931952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 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…</a:t>
            </a: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CDB93DE-FF4D-4876-A013-E7B5AC0067AA}"/>
              </a:ext>
            </a:extLst>
          </p:cNvPr>
          <p:cNvSpPr/>
          <p:nvPr/>
        </p:nvSpPr>
        <p:spPr>
          <a:xfrm>
            <a:off x="553673" y="5532325"/>
            <a:ext cx="7787741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컴퓨터에게 명령을 내리기 위해 사람이 알아볼 수 있는 형태로 만든 형식 언어 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4D16D2E-D863-4C2B-B76E-CBA59DD78442}"/>
              </a:ext>
            </a:extLst>
          </p:cNvPr>
          <p:cNvSpPr/>
          <p:nvPr/>
        </p:nvSpPr>
        <p:spPr>
          <a:xfrm>
            <a:off x="8802133" y="5343705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기계어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D6DB95B-8663-4457-8032-02042F79567B}"/>
              </a:ext>
            </a:extLst>
          </p:cNvPr>
          <p:cNvSpPr/>
          <p:nvPr/>
        </p:nvSpPr>
        <p:spPr>
          <a:xfrm>
            <a:off x="8802133" y="6072259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어셈블리어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91D6E2F-C06B-4D6F-9A81-72CF521516C3}"/>
              </a:ext>
            </a:extLst>
          </p:cNvPr>
          <p:cNvSpPr/>
          <p:nvPr/>
        </p:nvSpPr>
        <p:spPr>
          <a:xfrm>
            <a:off x="8802133" y="5711045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882A29E-8025-4F48-9EE5-C98B7F2CD23C}"/>
              </a:ext>
            </a:extLst>
          </p:cNvPr>
          <p:cNvSpPr/>
          <p:nvPr/>
        </p:nvSpPr>
        <p:spPr>
          <a:xfrm>
            <a:off x="10215658" y="5349831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JAVA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95453AE-CEEF-42AD-92DE-62B6561C95B7}"/>
              </a:ext>
            </a:extLst>
          </p:cNvPr>
          <p:cNvSpPr/>
          <p:nvPr/>
        </p:nvSpPr>
        <p:spPr>
          <a:xfrm>
            <a:off x="10215658" y="4976304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C++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A46DE66-1591-4954-9C2E-14E0D3BBEF29}"/>
              </a:ext>
            </a:extLst>
          </p:cNvPr>
          <p:cNvSpPr/>
          <p:nvPr/>
        </p:nvSpPr>
        <p:spPr>
          <a:xfrm>
            <a:off x="10215658" y="5711045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C#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AB0A8EB-4CF5-4232-93B9-80A98427288B}"/>
              </a:ext>
            </a:extLst>
          </p:cNvPr>
          <p:cNvSpPr/>
          <p:nvPr/>
        </p:nvSpPr>
        <p:spPr>
          <a:xfrm>
            <a:off x="10215658" y="6072259"/>
            <a:ext cx="1198306" cy="23109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ETC…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3DFCDD1-DE70-49A7-B4F2-52F0D6E89F2F}"/>
              </a:ext>
            </a:extLst>
          </p:cNvPr>
          <p:cNvSpPr/>
          <p:nvPr/>
        </p:nvSpPr>
        <p:spPr>
          <a:xfrm>
            <a:off x="8604170" y="4896007"/>
            <a:ext cx="3034156" cy="1567740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261CC27-9124-4C74-9A9D-1AE361AF5AA7}"/>
              </a:ext>
            </a:extLst>
          </p:cNvPr>
          <p:cNvSpPr/>
          <p:nvPr/>
        </p:nvSpPr>
        <p:spPr>
          <a:xfrm>
            <a:off x="8608420" y="4900359"/>
            <a:ext cx="1282199" cy="28295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언어의 종류</a:t>
            </a:r>
          </a:p>
        </p:txBody>
      </p:sp>
    </p:spTree>
    <p:extLst>
      <p:ext uri="{BB962C8B-B14F-4D97-AF65-F5344CB8AC3E}">
        <p14:creationId xmlns:p14="http://schemas.microsoft.com/office/powerpoint/2010/main" val="32986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프로그램과 언어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A01DDB-3CC2-4B79-9A11-91C0A6D2DB58}"/>
              </a:ext>
            </a:extLst>
          </p:cNvPr>
          <p:cNvSpPr/>
          <p:nvPr/>
        </p:nvSpPr>
        <p:spPr>
          <a:xfrm>
            <a:off x="553672" y="1123076"/>
            <a:ext cx="5410900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 학습을 위한 기반 지식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E76ADB-756C-40B1-9F94-1A4DBA28FA42}"/>
              </a:ext>
            </a:extLst>
          </p:cNvPr>
          <p:cNvSpPr/>
          <p:nvPr/>
        </p:nvSpPr>
        <p:spPr>
          <a:xfrm>
            <a:off x="553673" y="1842431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치환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30F82-EE34-4864-AE75-12385159481C}"/>
              </a:ext>
            </a:extLst>
          </p:cNvPr>
          <p:cNvSpPr/>
          <p:nvPr/>
        </p:nvSpPr>
        <p:spPr>
          <a:xfrm>
            <a:off x="553673" y="2292292"/>
            <a:ext cx="4160941" cy="438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특정 값이나 문자를 편하게 바꾸는 것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395F9D-9636-4CDE-91A2-E11FB81C281F}"/>
              </a:ext>
            </a:extLst>
          </p:cNvPr>
          <p:cNvSpPr/>
          <p:nvPr/>
        </p:nvSpPr>
        <p:spPr>
          <a:xfrm>
            <a:off x="553673" y="2730615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A9C1EB-D6E7-48A2-923C-D1B86ECEDAB1}"/>
              </a:ext>
            </a:extLst>
          </p:cNvPr>
          <p:cNvSpPr/>
          <p:nvPr/>
        </p:nvSpPr>
        <p:spPr>
          <a:xfrm>
            <a:off x="553673" y="3178379"/>
            <a:ext cx="4160941" cy="4404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논리학적으로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“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뜻이 분명한 문장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”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D6B30A-4210-4B38-9888-23D93F65B3B2}"/>
              </a:ext>
            </a:extLst>
          </p:cNvPr>
          <p:cNvSpPr/>
          <p:nvPr/>
        </p:nvSpPr>
        <p:spPr>
          <a:xfrm>
            <a:off x="553673" y="3728903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마인드맵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2B7565-41EA-4AEC-9C74-02863B75FCE2}"/>
              </a:ext>
            </a:extLst>
          </p:cNvPr>
          <p:cNvSpPr/>
          <p:nvPr/>
        </p:nvSpPr>
        <p:spPr>
          <a:xfrm>
            <a:off x="553674" y="4066562"/>
            <a:ext cx="4160940" cy="8378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지도를 그리듯 하나의 주제를 중심으로 특정 주제 및 자기 관리 등을 할 수 있는 방법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02FE86-31DD-4AD1-87DA-0E0379161650}"/>
              </a:ext>
            </a:extLst>
          </p:cNvPr>
          <p:cNvSpPr/>
          <p:nvPr/>
        </p:nvSpPr>
        <p:spPr>
          <a:xfrm>
            <a:off x="6509856" y="1123076"/>
            <a:ext cx="2298584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언어의 심화 과정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2B278D-F0F3-4F68-B755-005A4AD32F87}"/>
              </a:ext>
            </a:extLst>
          </p:cNvPr>
          <p:cNvSpPr/>
          <p:nvPr/>
        </p:nvSpPr>
        <p:spPr>
          <a:xfrm>
            <a:off x="6523838" y="1856589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자료구조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683023-0368-4718-8284-BBFA15A3812D}"/>
              </a:ext>
            </a:extLst>
          </p:cNvPr>
          <p:cNvSpPr/>
          <p:nvPr/>
        </p:nvSpPr>
        <p:spPr>
          <a:xfrm>
            <a:off x="6523838" y="2306450"/>
            <a:ext cx="4160941" cy="438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특정 데이터를 관리하는 기법의 집합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EA87287-265F-42E0-909B-79E4F9DC7832}"/>
              </a:ext>
            </a:extLst>
          </p:cNvPr>
          <p:cNvSpPr/>
          <p:nvPr/>
        </p:nvSpPr>
        <p:spPr>
          <a:xfrm>
            <a:off x="6509856" y="2790392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메모리 관리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45AD62-EF7F-41F6-92D4-05FC123AC70E}"/>
              </a:ext>
            </a:extLst>
          </p:cNvPr>
          <p:cNvSpPr/>
          <p:nvPr/>
        </p:nvSpPr>
        <p:spPr>
          <a:xfrm>
            <a:off x="6509856" y="3240253"/>
            <a:ext cx="4160941" cy="438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하드웨어 기억 공간을 프로그램에 활용하는 방법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7C8DE9-F843-4283-A0CD-E2630F6FCBB2}"/>
              </a:ext>
            </a:extLst>
          </p:cNvPr>
          <p:cNvSpPr/>
          <p:nvPr/>
        </p:nvSpPr>
        <p:spPr>
          <a:xfrm>
            <a:off x="6509856" y="3793398"/>
            <a:ext cx="1303091" cy="337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B21B7D-BD89-4177-A570-64628F90574A}"/>
              </a:ext>
            </a:extLst>
          </p:cNvPr>
          <p:cNvSpPr/>
          <p:nvPr/>
        </p:nvSpPr>
        <p:spPr>
          <a:xfrm>
            <a:off x="6509856" y="4243259"/>
            <a:ext cx="4160941" cy="438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문제를 쓰고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이해하고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답을 쓰는 과정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35CC61-E390-4F50-8E61-97CACBF0F7E6}"/>
              </a:ext>
            </a:extLst>
          </p:cNvPr>
          <p:cNvSpPr/>
          <p:nvPr/>
        </p:nvSpPr>
        <p:spPr>
          <a:xfrm>
            <a:off x="553673" y="5535691"/>
            <a:ext cx="1100635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일정한 공간을 분배하고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정의한다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정의한 공간을 최대한 효율적으로 정의하고 관리한다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CE34D57-1A6C-47C0-82DB-0E0052FD4C82}"/>
              </a:ext>
            </a:extLst>
          </p:cNvPr>
          <p:cNvSpPr/>
          <p:nvPr/>
        </p:nvSpPr>
        <p:spPr>
          <a:xfrm>
            <a:off x="553673" y="4994599"/>
            <a:ext cx="2931952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 학습 과정</a:t>
            </a:r>
          </a:p>
        </p:txBody>
      </p:sp>
    </p:spTree>
    <p:extLst>
      <p:ext uri="{BB962C8B-B14F-4D97-AF65-F5344CB8AC3E}">
        <p14:creationId xmlns:p14="http://schemas.microsoft.com/office/powerpoint/2010/main" val="166341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F702E306-100F-467E-AB90-C6C748EF7C37}"/>
              </a:ext>
            </a:extLst>
          </p:cNvPr>
          <p:cNvSpPr/>
          <p:nvPr/>
        </p:nvSpPr>
        <p:spPr>
          <a:xfrm>
            <a:off x="2077673" y="4296774"/>
            <a:ext cx="4018327" cy="66251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BC7592-2FCB-4107-8490-CCB460FA20AF}"/>
              </a:ext>
            </a:extLst>
          </p:cNvPr>
          <p:cNvSpPr/>
          <p:nvPr/>
        </p:nvSpPr>
        <p:spPr>
          <a:xfrm>
            <a:off x="339754" y="1110496"/>
            <a:ext cx="138558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98EFCF-1511-4906-B553-576939970E06}"/>
              </a:ext>
            </a:extLst>
          </p:cNvPr>
          <p:cNvSpPr/>
          <p:nvPr/>
        </p:nvSpPr>
        <p:spPr>
          <a:xfrm>
            <a:off x="2077673" y="1110493"/>
            <a:ext cx="8036654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069630-9719-4A52-9154-F04BE52C3CF2}"/>
              </a:ext>
            </a:extLst>
          </p:cNvPr>
          <p:cNvSpPr/>
          <p:nvPr/>
        </p:nvSpPr>
        <p:spPr>
          <a:xfrm>
            <a:off x="10466663" y="1110494"/>
            <a:ext cx="1385583" cy="4194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30923B-83E4-4063-9FA3-6A4D35D07343}"/>
              </a:ext>
            </a:extLst>
          </p:cNvPr>
          <p:cNvSpPr/>
          <p:nvPr/>
        </p:nvSpPr>
        <p:spPr>
          <a:xfrm>
            <a:off x="2077673" y="1707244"/>
            <a:ext cx="8036654" cy="15896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F5E48A8-B278-4320-BB6F-3F5A8CE7683E}"/>
              </a:ext>
            </a:extLst>
          </p:cNvPr>
          <p:cNvSpPr/>
          <p:nvPr/>
        </p:nvSpPr>
        <p:spPr>
          <a:xfrm>
            <a:off x="2253841" y="1843520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96080F-CB66-4995-BD2D-E655359D2D7D}"/>
              </a:ext>
            </a:extLst>
          </p:cNvPr>
          <p:cNvSpPr/>
          <p:nvPr/>
        </p:nvSpPr>
        <p:spPr>
          <a:xfrm>
            <a:off x="5125673" y="1843518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1AE3F8-EA4C-469A-8249-807FA261011C}"/>
              </a:ext>
            </a:extLst>
          </p:cNvPr>
          <p:cNvSpPr/>
          <p:nvPr/>
        </p:nvSpPr>
        <p:spPr>
          <a:xfrm>
            <a:off x="7997505" y="1843519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휴먼모음T" panose="02030504000101010101" pitchFamily="18" charset="-127"/>
                <a:ea typeface="휴먼모음T" panose="02030504000101010101" pitchFamily="18" charset="-127"/>
              </a:rPr>
              <a:t>반복문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125EEA-F767-46F2-9E9A-037E4F4B4BAE}"/>
              </a:ext>
            </a:extLst>
          </p:cNvPr>
          <p:cNvSpPr/>
          <p:nvPr/>
        </p:nvSpPr>
        <p:spPr>
          <a:xfrm>
            <a:off x="5125673" y="2759318"/>
            <a:ext cx="1940654" cy="41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94739B7-7816-4AFA-8338-FD15009BF4A2}"/>
              </a:ext>
            </a:extLst>
          </p:cNvPr>
          <p:cNvCxnSpPr>
            <a:stCxn id="23" idx="0"/>
            <a:endCxn id="21" idx="2"/>
          </p:cNvCxnSpPr>
          <p:nvPr/>
        </p:nvCxnSpPr>
        <p:spPr>
          <a:xfrm flipV="1">
            <a:off x="6096000" y="2256637"/>
            <a:ext cx="0" cy="5026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5356D55-72F6-4BA4-90C7-658BE71A5635}"/>
              </a:ext>
            </a:extLst>
          </p:cNvPr>
          <p:cNvCxnSpPr>
            <a:cxnSpLocks/>
            <a:stCxn id="23" idx="0"/>
            <a:endCxn id="22" idx="2"/>
          </p:cNvCxnSpPr>
          <p:nvPr/>
        </p:nvCxnSpPr>
        <p:spPr>
          <a:xfrm flipV="1">
            <a:off x="6096000" y="2256638"/>
            <a:ext cx="2871832" cy="5026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D1A0ED7-2695-4D0B-BC09-14C924B900EB}"/>
              </a:ext>
            </a:extLst>
          </p:cNvPr>
          <p:cNvCxnSpPr>
            <a:cxnSpLocks/>
            <a:stCxn id="23" idx="0"/>
            <a:endCxn id="20" idx="2"/>
          </p:cNvCxnSpPr>
          <p:nvPr/>
        </p:nvCxnSpPr>
        <p:spPr>
          <a:xfrm flipH="1" flipV="1">
            <a:off x="3224168" y="2256639"/>
            <a:ext cx="2871832" cy="5026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D59FB1-FA62-4DEE-B141-29883772D9B2}"/>
              </a:ext>
            </a:extLst>
          </p:cNvPr>
          <p:cNvSpPr/>
          <p:nvPr/>
        </p:nvSpPr>
        <p:spPr>
          <a:xfrm>
            <a:off x="2258035" y="2883748"/>
            <a:ext cx="1940654" cy="41311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 제작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B3E5BC-6AA4-440F-812E-8498CA35C120}"/>
              </a:ext>
            </a:extLst>
          </p:cNvPr>
          <p:cNvSpPr/>
          <p:nvPr/>
        </p:nvSpPr>
        <p:spPr>
          <a:xfrm>
            <a:off x="7824132" y="3688766"/>
            <a:ext cx="2287399" cy="217167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D522AC-39B4-427E-A5AD-5F6B1962D64D}"/>
              </a:ext>
            </a:extLst>
          </p:cNvPr>
          <p:cNvSpPr/>
          <p:nvPr/>
        </p:nvSpPr>
        <p:spPr>
          <a:xfrm>
            <a:off x="7997504" y="3820163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자료구조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43964A-3CF7-489F-B213-3D63602210E0}"/>
              </a:ext>
            </a:extLst>
          </p:cNvPr>
          <p:cNvSpPr/>
          <p:nvPr/>
        </p:nvSpPr>
        <p:spPr>
          <a:xfrm>
            <a:off x="7997504" y="4393776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구조체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9F1CDD6-9AF7-4858-9B5A-C7D247090220}"/>
              </a:ext>
            </a:extLst>
          </p:cNvPr>
          <p:cNvSpPr/>
          <p:nvPr/>
        </p:nvSpPr>
        <p:spPr>
          <a:xfrm>
            <a:off x="2077672" y="5136851"/>
            <a:ext cx="4018327" cy="72657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21C9748-5A8D-449E-9913-6F28E52D60B0}"/>
              </a:ext>
            </a:extLst>
          </p:cNvPr>
          <p:cNvCxnSpPr>
            <a:cxnSpLocks/>
            <a:stCxn id="23" idx="2"/>
            <a:endCxn id="39" idx="1"/>
          </p:cNvCxnSpPr>
          <p:nvPr/>
        </p:nvCxnSpPr>
        <p:spPr>
          <a:xfrm>
            <a:off x="6096000" y="3172437"/>
            <a:ext cx="1728132" cy="16021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CDDDEC5-C72F-47AA-863E-D0E2EE6EAFC0}"/>
              </a:ext>
            </a:extLst>
          </p:cNvPr>
          <p:cNvSpPr/>
          <p:nvPr/>
        </p:nvSpPr>
        <p:spPr>
          <a:xfrm>
            <a:off x="6468609" y="3503427"/>
            <a:ext cx="1152090" cy="727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객체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구성 요소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BBBEA98-EA19-478A-BEAD-EA17DB038F19}"/>
              </a:ext>
            </a:extLst>
          </p:cNvPr>
          <p:cNvSpPr/>
          <p:nvPr/>
        </p:nvSpPr>
        <p:spPr>
          <a:xfrm>
            <a:off x="2253841" y="3610421"/>
            <a:ext cx="1940654" cy="41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함수 구성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0B6BB0B-BEAA-478C-B638-CD1564903ED8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 flipH="1">
            <a:off x="3224168" y="3296867"/>
            <a:ext cx="4194" cy="313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D9A3416-3C2D-4EDC-BC55-9AA5813AA1D7}"/>
              </a:ext>
            </a:extLst>
          </p:cNvPr>
          <p:cNvSpPr/>
          <p:nvPr/>
        </p:nvSpPr>
        <p:spPr>
          <a:xfrm>
            <a:off x="4364370" y="4400569"/>
            <a:ext cx="1522606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구성 요소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6ECB5B4-664F-4CAB-8FD4-357225ACA196}"/>
              </a:ext>
            </a:extLst>
          </p:cNvPr>
          <p:cNvSpPr/>
          <p:nvPr/>
        </p:nvSpPr>
        <p:spPr>
          <a:xfrm>
            <a:off x="2258035" y="4400570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함수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6A23009-704A-41C8-9A0F-8AB4BA789820}"/>
              </a:ext>
            </a:extLst>
          </p:cNvPr>
          <p:cNvCxnSpPr>
            <a:cxnSpLocks/>
            <a:stCxn id="48" idx="2"/>
            <a:endCxn id="55" idx="0"/>
          </p:cNvCxnSpPr>
          <p:nvPr/>
        </p:nvCxnSpPr>
        <p:spPr>
          <a:xfrm>
            <a:off x="3224168" y="4023540"/>
            <a:ext cx="4194" cy="377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연결선: 꺾임 1035">
            <a:extLst>
              <a:ext uri="{FF2B5EF4-FFF2-40B4-BE49-F238E27FC236}">
                <a16:creationId xmlns:a16="http://schemas.microsoft.com/office/drawing/2014/main" id="{E78CF4CA-C62F-4BCB-B7E3-A28F8D603EA5}"/>
              </a:ext>
            </a:extLst>
          </p:cNvPr>
          <p:cNvCxnSpPr>
            <a:cxnSpLocks/>
            <a:stCxn id="46" idx="1"/>
            <a:endCxn id="54" idx="0"/>
          </p:cNvCxnSpPr>
          <p:nvPr/>
        </p:nvCxnSpPr>
        <p:spPr>
          <a:xfrm rot="10800000" flipV="1">
            <a:off x="5125673" y="3867191"/>
            <a:ext cx="1342936" cy="53337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F037CA4-6907-4F2E-9EF1-A05F09B585CA}"/>
              </a:ext>
            </a:extLst>
          </p:cNvPr>
          <p:cNvSpPr/>
          <p:nvPr/>
        </p:nvSpPr>
        <p:spPr>
          <a:xfrm>
            <a:off x="2258035" y="5313416"/>
            <a:ext cx="1940654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매서드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96B3F1B-DC46-4055-A3DD-D7A5C3B78652}"/>
              </a:ext>
            </a:extLst>
          </p:cNvPr>
          <p:cNvSpPr/>
          <p:nvPr/>
        </p:nvSpPr>
        <p:spPr>
          <a:xfrm>
            <a:off x="4364370" y="5313416"/>
            <a:ext cx="1522606" cy="4131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필드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DFFB99E-E964-457E-942E-9814A498BDB3}"/>
              </a:ext>
            </a:extLst>
          </p:cNvPr>
          <p:cNvSpPr/>
          <p:nvPr/>
        </p:nvSpPr>
        <p:spPr>
          <a:xfrm>
            <a:off x="7993309" y="5290599"/>
            <a:ext cx="1940654" cy="41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클래스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669169D-7C8E-406E-8531-EDD8D9B9730A}"/>
              </a:ext>
            </a:extLst>
          </p:cNvPr>
          <p:cNvCxnSpPr>
            <a:cxnSpLocks/>
            <a:stCxn id="55" idx="2"/>
            <a:endCxn id="64" idx="0"/>
          </p:cNvCxnSpPr>
          <p:nvPr/>
        </p:nvCxnSpPr>
        <p:spPr>
          <a:xfrm>
            <a:off x="3228362" y="4813689"/>
            <a:ext cx="0" cy="4997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E0747DB7-EC17-4CB2-83A8-12600765EF64}"/>
              </a:ext>
            </a:extLst>
          </p:cNvPr>
          <p:cNvCxnSpPr>
            <a:cxnSpLocks/>
            <a:stCxn id="54" idx="2"/>
            <a:endCxn id="65" idx="0"/>
          </p:cNvCxnSpPr>
          <p:nvPr/>
        </p:nvCxnSpPr>
        <p:spPr>
          <a:xfrm>
            <a:off x="5125673" y="4813688"/>
            <a:ext cx="0" cy="499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EE902A9-5430-4D2C-B1EF-D8B83EFC1D57}"/>
              </a:ext>
            </a:extLst>
          </p:cNvPr>
          <p:cNvCxnSpPr>
            <a:cxnSpLocks/>
            <a:stCxn id="42" idx="3"/>
            <a:endCxn id="66" idx="1"/>
          </p:cNvCxnSpPr>
          <p:nvPr/>
        </p:nvCxnSpPr>
        <p:spPr>
          <a:xfrm flipV="1">
            <a:off x="6095999" y="5497159"/>
            <a:ext cx="1897310" cy="29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CDEBB3F-48C8-43EC-B40B-4BE039FAA974}"/>
              </a:ext>
            </a:extLst>
          </p:cNvPr>
          <p:cNvSpPr/>
          <p:nvPr/>
        </p:nvSpPr>
        <p:spPr>
          <a:xfrm>
            <a:off x="310389" y="1707244"/>
            <a:ext cx="1414948" cy="8430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플랫폼 별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입력문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7073049-6842-4695-B483-C3EAFBB54358}"/>
              </a:ext>
            </a:extLst>
          </p:cNvPr>
          <p:cNvSpPr/>
          <p:nvPr/>
        </p:nvSpPr>
        <p:spPr>
          <a:xfrm>
            <a:off x="10466663" y="1707244"/>
            <a:ext cx="1414948" cy="8430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플랫폼 별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출력문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1A0331E-338D-4D9A-BDA5-5CFBAF1C6D27}"/>
              </a:ext>
            </a:extLst>
          </p:cNvPr>
          <p:cNvSpPr/>
          <p:nvPr/>
        </p:nvSpPr>
        <p:spPr>
          <a:xfrm>
            <a:off x="310390" y="6014588"/>
            <a:ext cx="11541856" cy="41944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발전 과정 → 함수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제작하는 과정을 프로그래밍이라고 정의한다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5776424-617B-46C3-8271-318EAA577DF9}"/>
              </a:ext>
            </a:extLst>
          </p:cNvPr>
          <p:cNvSpPr/>
          <p:nvPr/>
        </p:nvSpPr>
        <p:spPr>
          <a:xfrm>
            <a:off x="7418664" y="2966212"/>
            <a:ext cx="2692868" cy="33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대부분의 언어가 가지는 공통 문법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9048E67-BAB0-473B-8CAC-E211EFE972B5}"/>
              </a:ext>
            </a:extLst>
          </p:cNvPr>
          <p:cNvSpPr/>
          <p:nvPr/>
        </p:nvSpPr>
        <p:spPr>
          <a:xfrm>
            <a:off x="10245861" y="4782168"/>
            <a:ext cx="1606386" cy="10640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 정의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구성 요소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함수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491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249814-E794-44EB-8B72-B6061929B0E0}"/>
              </a:ext>
            </a:extLst>
          </p:cNvPr>
          <p:cNvSpPr/>
          <p:nvPr/>
        </p:nvSpPr>
        <p:spPr>
          <a:xfrm>
            <a:off x="553671" y="1123076"/>
            <a:ext cx="10897301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대부분의 프로그래밍 언어는 같은 종류의 문법을 가지고 있다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8D0B07-8C78-4F3E-8E0A-1AF6696EFCDA}"/>
              </a:ext>
            </a:extLst>
          </p:cNvPr>
          <p:cNvSpPr/>
          <p:nvPr/>
        </p:nvSpPr>
        <p:spPr>
          <a:xfrm>
            <a:off x="1040234" y="1572938"/>
            <a:ext cx="9697674" cy="8430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프로그램에 대한 이해와 사용법만 확인한다면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다른 여러 프로그래밍 언어를 이해하는데 어려움이 없을 것이다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프로그램은 사용자가 정의한 데이터를 제어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관리하여 사용자가 원하는 데이터를 출력한다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1182DD-8E08-48BB-9258-BF720BAAF7B2}"/>
              </a:ext>
            </a:extLst>
          </p:cNvPr>
          <p:cNvSpPr/>
          <p:nvPr/>
        </p:nvSpPr>
        <p:spPr>
          <a:xfrm>
            <a:off x="2558641" y="2508306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CD7856-31F2-467A-9B7F-245B22B2DA52}"/>
              </a:ext>
            </a:extLst>
          </p:cNvPr>
          <p:cNvSpPr/>
          <p:nvPr/>
        </p:nvSpPr>
        <p:spPr>
          <a:xfrm>
            <a:off x="4120391" y="2508306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8E89AB-26B5-4C95-A3E8-CE04B9F89BBD}"/>
              </a:ext>
            </a:extLst>
          </p:cNvPr>
          <p:cNvSpPr/>
          <p:nvPr/>
        </p:nvSpPr>
        <p:spPr>
          <a:xfrm>
            <a:off x="5682141" y="2508306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ED180E-5917-480C-A300-0945A168835F}"/>
              </a:ext>
            </a:extLst>
          </p:cNvPr>
          <p:cNvSpPr/>
          <p:nvPr/>
        </p:nvSpPr>
        <p:spPr>
          <a:xfrm>
            <a:off x="7243891" y="2508306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4FA5917-E6B3-402A-AA6B-F5C0F9F564A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454760" y="2686492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C683A99-03AE-4DD9-9FE0-60B7BBEE9B3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016510" y="2686492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AFE6D8-3C5C-4093-98E7-3B54011D9F03}"/>
              </a:ext>
            </a:extLst>
          </p:cNvPr>
          <p:cNvSpPr/>
          <p:nvPr/>
        </p:nvSpPr>
        <p:spPr>
          <a:xfrm>
            <a:off x="996891" y="2508306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DB1F777-274A-45B9-A8D3-8C71DB0A3943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>
            <a:off x="1893010" y="2686492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C86309F-8DFD-4A00-BA47-079BCE8BD3DE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578260" y="2686492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25E419-46D8-4ABA-8FAA-5687F7CD2511}"/>
              </a:ext>
            </a:extLst>
          </p:cNvPr>
          <p:cNvSpPr/>
          <p:nvPr/>
        </p:nvSpPr>
        <p:spPr>
          <a:xfrm>
            <a:off x="5682141" y="3013607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결과값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751978-D445-46A5-ACC2-05206BD2C2A9}"/>
              </a:ext>
            </a:extLst>
          </p:cNvPr>
          <p:cNvSpPr/>
          <p:nvPr/>
        </p:nvSpPr>
        <p:spPr>
          <a:xfrm>
            <a:off x="7243891" y="3013607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F3EB3F1-B4B7-4368-8A3E-1DFB6A7C76F9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578260" y="3191793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B3E4CBA-ECCE-4C7C-B736-3285039E00D5}"/>
              </a:ext>
            </a:extLst>
          </p:cNvPr>
          <p:cNvSpPr/>
          <p:nvPr/>
        </p:nvSpPr>
        <p:spPr>
          <a:xfrm>
            <a:off x="5682141" y="3546012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결과값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754447-6973-42E0-B3E6-104D42795A63}"/>
              </a:ext>
            </a:extLst>
          </p:cNvPr>
          <p:cNvSpPr/>
          <p:nvPr/>
        </p:nvSpPr>
        <p:spPr>
          <a:xfrm>
            <a:off x="7243891" y="3546012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2219989-45B0-4274-9A15-CA8D2CAFBF08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6578260" y="3724198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E0A8E8-C867-4208-9715-592DDF3FAF7D}"/>
              </a:ext>
            </a:extLst>
          </p:cNvPr>
          <p:cNvSpPr/>
          <p:nvPr/>
        </p:nvSpPr>
        <p:spPr>
          <a:xfrm>
            <a:off x="5682141" y="4076051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0981EED-AE53-48A2-91B9-A1636117E5E2}"/>
              </a:ext>
            </a:extLst>
          </p:cNvPr>
          <p:cNvSpPr/>
          <p:nvPr/>
        </p:nvSpPr>
        <p:spPr>
          <a:xfrm>
            <a:off x="7243891" y="4076051"/>
            <a:ext cx="89611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10889FD-FF56-47AC-8E38-641F424ABB7F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6578260" y="4254237"/>
            <a:ext cx="6656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59069168-844C-440F-A350-8D81445DC41C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5016510" y="2686492"/>
            <a:ext cx="665631" cy="5053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A975F48-106E-422C-95C6-93EBEC39B4D1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5016510" y="2686492"/>
            <a:ext cx="665631" cy="1037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5D3C183B-0463-4E58-A487-ECE113349EF7}"/>
              </a:ext>
            </a:extLst>
          </p:cNvPr>
          <p:cNvCxnSpPr>
            <a:cxnSpLocks/>
            <a:stCxn id="11" idx="3"/>
            <a:endCxn id="33" idx="1"/>
          </p:cNvCxnSpPr>
          <p:nvPr/>
        </p:nvCxnSpPr>
        <p:spPr>
          <a:xfrm>
            <a:off x="5016510" y="2686492"/>
            <a:ext cx="665631" cy="15677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7D5964F-DEAA-4120-8399-A2FAF4BBB500}"/>
              </a:ext>
            </a:extLst>
          </p:cNvPr>
          <p:cNvSpPr/>
          <p:nvPr/>
        </p:nvSpPr>
        <p:spPr>
          <a:xfrm>
            <a:off x="996891" y="3191793"/>
            <a:ext cx="4019619" cy="3563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사용자의 입력 값에 대한 다양한 결과물을 보여준다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B1A7437-5413-47E2-BB76-4B26989E0EFF}"/>
              </a:ext>
            </a:extLst>
          </p:cNvPr>
          <p:cNvSpPr/>
          <p:nvPr/>
        </p:nvSpPr>
        <p:spPr>
          <a:xfrm>
            <a:off x="996890" y="3601640"/>
            <a:ext cx="4019619" cy="8347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잠깐 확인해보는 기본 지식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컴퓨터란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Compute(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계산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 + er =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계산하는 주체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300748B-30E4-470C-975E-16D0D7134316}"/>
              </a:ext>
            </a:extLst>
          </p:cNvPr>
          <p:cNvSpPr/>
          <p:nvPr/>
        </p:nvSpPr>
        <p:spPr>
          <a:xfrm>
            <a:off x="996890" y="4434788"/>
            <a:ext cx="9111845" cy="20468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발전 방향을 제시해주는 질문</a:t>
            </a:r>
            <a:endParaRPr lang="en-US" altLang="ko-KR" sz="1400" u="sng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사용자가 쉽게 데이터를 관리할 수 있는가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(DB)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 관리 방법을 어떻게 시각화 할 것인가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(UI)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데이터를 이용하여 어떻게 현실과 비슷한 시각화를 할 수 있는가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그래픽스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얼마나 빠른 결과 값을 알아 낼 수 있는가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ETC...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77313C-2916-4F15-AB86-9778F20D1492}"/>
              </a:ext>
            </a:extLst>
          </p:cNvPr>
          <p:cNvSpPr/>
          <p:nvPr/>
        </p:nvSpPr>
        <p:spPr>
          <a:xfrm>
            <a:off x="8428245" y="2463821"/>
            <a:ext cx="2986480" cy="501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개발 언어는 목적에 따라 문법의 형태만 달라진다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55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688B5BE-61AA-42BC-8A5E-BB187894B973}"/>
              </a:ext>
            </a:extLst>
          </p:cNvPr>
          <p:cNvSpPr/>
          <p:nvPr/>
        </p:nvSpPr>
        <p:spPr>
          <a:xfrm>
            <a:off x="431506" y="1690239"/>
            <a:ext cx="7345087" cy="467700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204854E-B4C4-4356-8524-91A86DE3477C}"/>
              </a:ext>
            </a:extLst>
          </p:cNvPr>
          <p:cNvSpPr/>
          <p:nvPr/>
        </p:nvSpPr>
        <p:spPr>
          <a:xfrm>
            <a:off x="696636" y="3902481"/>
            <a:ext cx="6641982" cy="18014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81C1B72-93DA-44BF-A09C-66B2DB53EBCA}"/>
              </a:ext>
            </a:extLst>
          </p:cNvPr>
          <p:cNvSpPr/>
          <p:nvPr/>
        </p:nvSpPr>
        <p:spPr>
          <a:xfrm>
            <a:off x="696636" y="1847009"/>
            <a:ext cx="6641982" cy="18014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20507D4-3C6B-4341-A971-4889C6106625}"/>
              </a:ext>
            </a:extLst>
          </p:cNvPr>
          <p:cNvSpPr/>
          <p:nvPr/>
        </p:nvSpPr>
        <p:spPr>
          <a:xfrm>
            <a:off x="6181286" y="2050043"/>
            <a:ext cx="889233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7DEEB5-560C-4EC1-ADC7-DA022CEACAE4}"/>
              </a:ext>
            </a:extLst>
          </p:cNvPr>
          <p:cNvSpPr/>
          <p:nvPr/>
        </p:nvSpPr>
        <p:spPr>
          <a:xfrm>
            <a:off x="553672" y="1123076"/>
            <a:ext cx="5410900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구조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1FCA1F-066B-4E3D-AAD2-D63C72F14CFE}"/>
              </a:ext>
            </a:extLst>
          </p:cNvPr>
          <p:cNvSpPr/>
          <p:nvPr/>
        </p:nvSpPr>
        <p:spPr>
          <a:xfrm>
            <a:off x="907058" y="2050043"/>
            <a:ext cx="889233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52E9ACC-C950-47D1-A47F-6A45849D12E4}"/>
              </a:ext>
            </a:extLst>
          </p:cNvPr>
          <p:cNvSpPr/>
          <p:nvPr/>
        </p:nvSpPr>
        <p:spPr>
          <a:xfrm>
            <a:off x="2108082" y="2050043"/>
            <a:ext cx="889233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A5766B-EBF2-494C-9292-46A14D35475E}"/>
              </a:ext>
            </a:extLst>
          </p:cNvPr>
          <p:cNvSpPr/>
          <p:nvPr/>
        </p:nvSpPr>
        <p:spPr>
          <a:xfrm>
            <a:off x="3309106" y="2050043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휴먼모음T" panose="02030504000101010101" pitchFamily="18" charset="-127"/>
                <a:ea typeface="휴먼모음T" panose="02030504000101010101" pitchFamily="18" charset="-127"/>
              </a:rPr>
              <a:t>연산자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22DA493-0448-4574-886C-7E3481BD5ED5}"/>
              </a:ext>
            </a:extLst>
          </p:cNvPr>
          <p:cNvSpPr/>
          <p:nvPr/>
        </p:nvSpPr>
        <p:spPr>
          <a:xfrm>
            <a:off x="3309106" y="2574396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9B982A5-CE17-4100-AFCB-FA55E65606FC}"/>
              </a:ext>
            </a:extLst>
          </p:cNvPr>
          <p:cNvSpPr/>
          <p:nvPr/>
        </p:nvSpPr>
        <p:spPr>
          <a:xfrm>
            <a:off x="3309106" y="3098749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반복문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DD4B5D-CD84-4660-9FB9-58193C127D28}"/>
              </a:ext>
            </a:extLst>
          </p:cNvPr>
          <p:cNvSpPr/>
          <p:nvPr/>
        </p:nvSpPr>
        <p:spPr>
          <a:xfrm>
            <a:off x="4608003" y="2050043"/>
            <a:ext cx="1220252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 산출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A339E7E-5BB9-4EC1-9EFF-CDB5E646F1B3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1796291" y="2244346"/>
            <a:ext cx="3117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854807E-8211-4568-AC78-A366ECA0C9CC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2997315" y="2244346"/>
            <a:ext cx="3117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4B0A71-19E9-4877-91CF-4C0338E40667}"/>
              </a:ext>
            </a:extLst>
          </p:cNvPr>
          <p:cNvCxnSpPr>
            <a:cxnSpLocks/>
            <a:stCxn id="45" idx="3"/>
            <a:endCxn id="52" idx="1"/>
          </p:cNvCxnSpPr>
          <p:nvPr/>
        </p:nvCxnSpPr>
        <p:spPr>
          <a:xfrm>
            <a:off x="4296212" y="2244346"/>
            <a:ext cx="3117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4CB0B21-76CB-423D-A3CC-DAACF6295FF2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5828255" y="2244346"/>
            <a:ext cx="3530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2CB29715-1CF4-4568-9FBD-F6123EF7189A}"/>
              </a:ext>
            </a:extLst>
          </p:cNvPr>
          <p:cNvCxnSpPr>
            <a:cxnSpLocks/>
            <a:stCxn id="44" idx="3"/>
            <a:endCxn id="50" idx="1"/>
          </p:cNvCxnSpPr>
          <p:nvPr/>
        </p:nvCxnSpPr>
        <p:spPr>
          <a:xfrm>
            <a:off x="2997315" y="2244346"/>
            <a:ext cx="311791" cy="5243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04219E2D-5130-4FC1-A8F2-7ADAC63726E8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>
          <a:xfrm>
            <a:off x="2997315" y="2244346"/>
            <a:ext cx="311791" cy="1048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27B82246-A970-4A7A-8005-D96688F6EF59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>
          <a:xfrm flipV="1">
            <a:off x="4296212" y="2244346"/>
            <a:ext cx="311791" cy="5243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EC69F617-EC3A-4B6B-BC65-115C300FAE7C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4296212" y="2244346"/>
            <a:ext cx="311791" cy="1048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E44FF05-1C0F-4871-A0A4-967F86912F9E}"/>
              </a:ext>
            </a:extLst>
          </p:cNvPr>
          <p:cNvSpPr/>
          <p:nvPr/>
        </p:nvSpPr>
        <p:spPr>
          <a:xfrm>
            <a:off x="693140" y="3335497"/>
            <a:ext cx="1765883" cy="33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프로그램의 완성 과정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CE075DD-C34A-4CBC-BBDE-E5069D960B33}"/>
              </a:ext>
            </a:extLst>
          </p:cNvPr>
          <p:cNvSpPr/>
          <p:nvPr/>
        </p:nvSpPr>
        <p:spPr>
          <a:xfrm>
            <a:off x="693140" y="5373271"/>
            <a:ext cx="1765883" cy="33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명령서를 만든다면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(?)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DB7BB96-7D66-4E5F-A020-F34CDB01A659}"/>
              </a:ext>
            </a:extLst>
          </p:cNvPr>
          <p:cNvCxnSpPr>
            <a:cxnSpLocks/>
            <a:stCxn id="44" idx="2"/>
            <a:endCxn id="105" idx="0"/>
          </p:cNvCxnSpPr>
          <p:nvPr/>
        </p:nvCxnSpPr>
        <p:spPr>
          <a:xfrm>
            <a:off x="2552699" y="2438649"/>
            <a:ext cx="0" cy="1607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80046D4-DB8C-40A7-9A92-DD3F50022113}"/>
              </a:ext>
            </a:extLst>
          </p:cNvPr>
          <p:cNvSpPr/>
          <p:nvPr/>
        </p:nvSpPr>
        <p:spPr>
          <a:xfrm>
            <a:off x="3309106" y="4045791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휴먼모음T" panose="02030504000101010101" pitchFamily="18" charset="-127"/>
                <a:ea typeface="휴먼모음T" panose="02030504000101010101" pitchFamily="18" charset="-127"/>
              </a:rPr>
              <a:t>연산자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CCAAEC6-7C58-4344-9E88-A317B85A94FC}"/>
              </a:ext>
            </a:extLst>
          </p:cNvPr>
          <p:cNvSpPr/>
          <p:nvPr/>
        </p:nvSpPr>
        <p:spPr>
          <a:xfrm>
            <a:off x="3309106" y="4570144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0866AFE-3857-475B-A947-8E344DD0439F}"/>
              </a:ext>
            </a:extLst>
          </p:cNvPr>
          <p:cNvSpPr/>
          <p:nvPr/>
        </p:nvSpPr>
        <p:spPr>
          <a:xfrm>
            <a:off x="3309106" y="5094497"/>
            <a:ext cx="987106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반복문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8784B33-492C-40FF-9CA5-58D033618D6D}"/>
              </a:ext>
            </a:extLst>
          </p:cNvPr>
          <p:cNvSpPr/>
          <p:nvPr/>
        </p:nvSpPr>
        <p:spPr>
          <a:xfrm>
            <a:off x="4608003" y="4045791"/>
            <a:ext cx="1220252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 산출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209471F-2A5A-4F28-B2D9-D32756C5B76D}"/>
              </a:ext>
            </a:extLst>
          </p:cNvPr>
          <p:cNvCxnSpPr>
            <a:cxnSpLocks/>
            <a:stCxn id="105" idx="3"/>
            <a:endCxn id="94" idx="1"/>
          </p:cNvCxnSpPr>
          <p:nvPr/>
        </p:nvCxnSpPr>
        <p:spPr>
          <a:xfrm>
            <a:off x="2997315" y="4240094"/>
            <a:ext cx="3117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AD6C961-304A-462B-956A-D2DF4026FFB8}"/>
              </a:ext>
            </a:extLst>
          </p:cNvPr>
          <p:cNvCxnSpPr>
            <a:cxnSpLocks/>
            <a:stCxn id="94" idx="3"/>
            <a:endCxn id="97" idx="1"/>
          </p:cNvCxnSpPr>
          <p:nvPr/>
        </p:nvCxnSpPr>
        <p:spPr>
          <a:xfrm>
            <a:off x="4296212" y="4240094"/>
            <a:ext cx="3117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7088295A-9AFE-402F-B9F3-C692246664CE}"/>
              </a:ext>
            </a:extLst>
          </p:cNvPr>
          <p:cNvCxnSpPr>
            <a:cxnSpLocks/>
            <a:stCxn id="105" idx="3"/>
            <a:endCxn id="95" idx="1"/>
          </p:cNvCxnSpPr>
          <p:nvPr/>
        </p:nvCxnSpPr>
        <p:spPr>
          <a:xfrm>
            <a:off x="2997315" y="4240094"/>
            <a:ext cx="311791" cy="5243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BA129629-77F1-4588-AAC9-8F560CCE93E1}"/>
              </a:ext>
            </a:extLst>
          </p:cNvPr>
          <p:cNvCxnSpPr>
            <a:cxnSpLocks/>
            <a:stCxn id="105" idx="3"/>
            <a:endCxn id="96" idx="1"/>
          </p:cNvCxnSpPr>
          <p:nvPr/>
        </p:nvCxnSpPr>
        <p:spPr>
          <a:xfrm>
            <a:off x="2997315" y="4240094"/>
            <a:ext cx="311791" cy="1048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2C53090C-B172-4C4B-ACAB-0BE4C92CCAA2}"/>
              </a:ext>
            </a:extLst>
          </p:cNvPr>
          <p:cNvCxnSpPr>
            <a:cxnSpLocks/>
            <a:stCxn id="95" idx="3"/>
            <a:endCxn id="97" idx="1"/>
          </p:cNvCxnSpPr>
          <p:nvPr/>
        </p:nvCxnSpPr>
        <p:spPr>
          <a:xfrm flipV="1">
            <a:off x="4296212" y="4240094"/>
            <a:ext cx="311791" cy="5243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CD1CD27D-7FE3-447E-B154-D6DBF7441524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 flipV="1">
            <a:off x="4296212" y="4240094"/>
            <a:ext cx="311791" cy="1048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0B21D8B-5A51-4063-BBC8-B9B40A9BA2A0}"/>
              </a:ext>
            </a:extLst>
          </p:cNvPr>
          <p:cNvSpPr/>
          <p:nvPr/>
        </p:nvSpPr>
        <p:spPr>
          <a:xfrm>
            <a:off x="2108082" y="4045791"/>
            <a:ext cx="889233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E7995B6-DF2E-43E2-868A-F464C4A385C1}"/>
              </a:ext>
            </a:extLst>
          </p:cNvPr>
          <p:cNvSpPr/>
          <p:nvPr/>
        </p:nvSpPr>
        <p:spPr>
          <a:xfrm>
            <a:off x="6181286" y="4045791"/>
            <a:ext cx="889233" cy="3886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반환</a:t>
            </a: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136EA75C-373B-48F9-A42C-8CF1E8A94706}"/>
              </a:ext>
            </a:extLst>
          </p:cNvPr>
          <p:cNvCxnSpPr>
            <a:cxnSpLocks/>
            <a:stCxn id="97" idx="3"/>
            <a:endCxn id="111" idx="1"/>
          </p:cNvCxnSpPr>
          <p:nvPr/>
        </p:nvCxnSpPr>
        <p:spPr>
          <a:xfrm>
            <a:off x="5828255" y="4240094"/>
            <a:ext cx="3530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688C2E7-BF36-4748-BA5B-B0BAE98306D1}"/>
              </a:ext>
            </a:extLst>
          </p:cNvPr>
          <p:cNvSpPr/>
          <p:nvPr/>
        </p:nvSpPr>
        <p:spPr>
          <a:xfrm>
            <a:off x="693140" y="5856204"/>
            <a:ext cx="6641982" cy="3790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함수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특정 행위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종료를 하고 자하는 경우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반환이 필요가 없다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F2D2BF4-1CE9-4E7E-9130-8EF5A6B2B7F3}"/>
              </a:ext>
            </a:extLst>
          </p:cNvPr>
          <p:cNvSpPr/>
          <p:nvPr/>
        </p:nvSpPr>
        <p:spPr>
          <a:xfrm>
            <a:off x="8103764" y="1123075"/>
            <a:ext cx="2298584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u="sng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기본 문법 목차</a:t>
            </a: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6B263CC-C132-4397-860D-C71ECFC77DDD}"/>
              </a:ext>
            </a:extLst>
          </p:cNvPr>
          <p:cNvSpPr/>
          <p:nvPr/>
        </p:nvSpPr>
        <p:spPr>
          <a:xfrm>
            <a:off x="6059645" y="1945131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DF2FD41-F777-4FE6-805E-30F23889C756}"/>
              </a:ext>
            </a:extLst>
          </p:cNvPr>
          <p:cNvSpPr/>
          <p:nvPr/>
        </p:nvSpPr>
        <p:spPr>
          <a:xfrm>
            <a:off x="2042369" y="1938042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093A990F-F1EC-4EB7-A065-090EF1392349}"/>
              </a:ext>
            </a:extLst>
          </p:cNvPr>
          <p:cNvSpPr/>
          <p:nvPr/>
        </p:nvSpPr>
        <p:spPr>
          <a:xfrm>
            <a:off x="775632" y="1945131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E83A75D-D664-4E7A-B401-A2B12B21FA3E}"/>
              </a:ext>
            </a:extLst>
          </p:cNvPr>
          <p:cNvSpPr/>
          <p:nvPr/>
        </p:nvSpPr>
        <p:spPr>
          <a:xfrm>
            <a:off x="4137524" y="2315455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483248D6-4043-4257-ABED-0ADBDEEACA0D}"/>
              </a:ext>
            </a:extLst>
          </p:cNvPr>
          <p:cNvSpPr/>
          <p:nvPr/>
        </p:nvSpPr>
        <p:spPr>
          <a:xfrm>
            <a:off x="4137524" y="2842688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BA0E4081-5C12-4445-A3E4-CA0CE0BEC546}"/>
              </a:ext>
            </a:extLst>
          </p:cNvPr>
          <p:cNvSpPr/>
          <p:nvPr/>
        </p:nvSpPr>
        <p:spPr>
          <a:xfrm>
            <a:off x="4139790" y="3388569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AFB2436D-7610-42A9-A705-298D01FDFAA5}"/>
              </a:ext>
            </a:extLst>
          </p:cNvPr>
          <p:cNvSpPr/>
          <p:nvPr/>
        </p:nvSpPr>
        <p:spPr>
          <a:xfrm>
            <a:off x="693140" y="5175157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D1D85EFF-AA7E-4914-8F0E-3E9AF46F9D0F}"/>
              </a:ext>
            </a:extLst>
          </p:cNvPr>
          <p:cNvSpPr/>
          <p:nvPr/>
        </p:nvSpPr>
        <p:spPr>
          <a:xfrm>
            <a:off x="1986441" y="3927137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8</a:t>
            </a:r>
            <a:endParaRPr lang="ko-KR" altLang="en-US" sz="1200" b="1" dirty="0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2191FF75-9D97-4BA0-AA6F-C781B18BA76A}"/>
              </a:ext>
            </a:extLst>
          </p:cNvPr>
          <p:cNvSpPr/>
          <p:nvPr/>
        </p:nvSpPr>
        <p:spPr>
          <a:xfrm>
            <a:off x="7485424" y="1722771"/>
            <a:ext cx="243281" cy="2152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9</a:t>
            </a:r>
            <a:endParaRPr lang="ko-KR" altLang="en-US" sz="1200" b="1" dirty="0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BB68FCC-B6D6-44EC-83CE-005D2CD68A5B}"/>
              </a:ext>
            </a:extLst>
          </p:cNvPr>
          <p:cNvSpPr/>
          <p:nvPr/>
        </p:nvSpPr>
        <p:spPr>
          <a:xfrm>
            <a:off x="8041723" y="1938042"/>
            <a:ext cx="3718771" cy="38653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연산자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반복문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함수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 심화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63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DFE42BB5-2F44-4A3C-8FF9-E240E4492CBB}"/>
              </a:ext>
            </a:extLst>
          </p:cNvPr>
          <p:cNvSpPr/>
          <p:nvPr/>
        </p:nvSpPr>
        <p:spPr>
          <a:xfrm>
            <a:off x="2919368" y="1010518"/>
            <a:ext cx="2701255" cy="16823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FBA2D9-7CED-4DC5-8F77-2C56D2A0AD3C}"/>
              </a:ext>
            </a:extLst>
          </p:cNvPr>
          <p:cNvSpPr/>
          <p:nvPr/>
        </p:nvSpPr>
        <p:spPr>
          <a:xfrm>
            <a:off x="2919365" y="1010518"/>
            <a:ext cx="2701255" cy="308330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일괄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출력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3D075B-C5D7-4717-B179-8E3F62BBB3B3}"/>
              </a:ext>
            </a:extLst>
          </p:cNvPr>
          <p:cNvSpPr/>
          <p:nvPr/>
        </p:nvSpPr>
        <p:spPr>
          <a:xfrm>
            <a:off x="489312" y="4150819"/>
            <a:ext cx="1977049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명령서를 작성하는 공간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3CCF1F-68AC-4610-B046-8BDD67B0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2" y="1797544"/>
            <a:ext cx="1977049" cy="1828602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506CFB8D-0697-4B18-89A0-6735C91CAFE1}"/>
              </a:ext>
            </a:extLst>
          </p:cNvPr>
          <p:cNvSpPr/>
          <p:nvPr/>
        </p:nvSpPr>
        <p:spPr>
          <a:xfrm>
            <a:off x="2919367" y="1423882"/>
            <a:ext cx="2701255" cy="3339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라이브러리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421E17-8677-4BBF-BA6C-51B276C50453}"/>
              </a:ext>
            </a:extLst>
          </p:cNvPr>
          <p:cNvSpPr/>
          <p:nvPr/>
        </p:nvSpPr>
        <p:spPr>
          <a:xfrm>
            <a:off x="2919367" y="1797544"/>
            <a:ext cx="2701255" cy="3339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전처리기 및 매크로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6190B9C-B87B-4A6A-BFA4-ACB8D6A14F3A}"/>
              </a:ext>
            </a:extLst>
          </p:cNvPr>
          <p:cNvSpPr/>
          <p:nvPr/>
        </p:nvSpPr>
        <p:spPr>
          <a:xfrm>
            <a:off x="2919367" y="2171206"/>
            <a:ext cx="2701255" cy="33396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커스텀 일괄 변수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BBBB156-5007-4FB8-BCBD-366523BF983B}"/>
              </a:ext>
            </a:extLst>
          </p:cNvPr>
          <p:cNvSpPr/>
          <p:nvPr/>
        </p:nvSpPr>
        <p:spPr>
          <a:xfrm>
            <a:off x="2919367" y="2861343"/>
            <a:ext cx="2701255" cy="12324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작업 영역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53D1C43-302D-48D5-AA27-A77592589496}"/>
              </a:ext>
            </a:extLst>
          </p:cNvPr>
          <p:cNvSpPr/>
          <p:nvPr/>
        </p:nvSpPr>
        <p:spPr>
          <a:xfrm>
            <a:off x="2919365" y="4150819"/>
            <a:ext cx="2701255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대략적인 명령서 양식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8F1889C-A847-49BC-9F0F-FFFC5D5626D7}"/>
              </a:ext>
            </a:extLst>
          </p:cNvPr>
          <p:cNvSpPr/>
          <p:nvPr/>
        </p:nvSpPr>
        <p:spPr>
          <a:xfrm>
            <a:off x="489312" y="4690241"/>
            <a:ext cx="6989326" cy="14901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용어 사전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라이브러리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(Library =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도서관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기존 작성해 놓은 함수를 저장해 놓은 헤더 및 공간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전처리기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일괄 변수를 관리하기 위한 컴파일 단위의 명령 모음집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매크로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특정 숫자를 문자로 치환하여 사용할 수 있도록 하는 자동화 시스템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20004A2-2CBE-48CF-A769-9D5E9D2C6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623" y="1504191"/>
            <a:ext cx="2604863" cy="2415307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D2DC0098-6B02-473C-B529-AD4762D43C82}"/>
              </a:ext>
            </a:extLst>
          </p:cNvPr>
          <p:cNvSpPr/>
          <p:nvPr/>
        </p:nvSpPr>
        <p:spPr>
          <a:xfrm>
            <a:off x="6073624" y="4150819"/>
            <a:ext cx="2604863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 방법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(Console)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D47D7F3-AC3A-4B48-B135-588FB7F01827}"/>
              </a:ext>
            </a:extLst>
          </p:cNvPr>
          <p:cNvSpPr/>
          <p:nvPr/>
        </p:nvSpPr>
        <p:spPr>
          <a:xfrm>
            <a:off x="8809862" y="1438928"/>
            <a:ext cx="2892826" cy="1686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대부분의 명령은 함수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형태를 가지고 있다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printf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(“Hello World”);</a:t>
            </a: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printf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: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출력해라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“Hello World”: Hello World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E835569-5289-45E3-B491-D808225E79A2}"/>
              </a:ext>
            </a:extLst>
          </p:cNvPr>
          <p:cNvSpPr/>
          <p:nvPr/>
        </p:nvSpPr>
        <p:spPr>
          <a:xfrm>
            <a:off x="8809862" y="3250327"/>
            <a:ext cx="2892826" cy="3083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출력문의 경우 각 언어 또는 문법마다 그 형태가 달라질 수 있다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 :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printf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내용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C++ :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cout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&lt;&lt;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내용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Java :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System.out.println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내용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Python : print()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API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및 엔진의 경우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내장된 특정 함수를 통해 출력을 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795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변수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E96EB83-49BC-4421-BD8B-CB70C482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1" y="4810727"/>
            <a:ext cx="4932729" cy="14052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9CF9991-3C8E-45E8-B1DF-66B24EF9AD27}"/>
              </a:ext>
            </a:extLst>
          </p:cNvPr>
          <p:cNvSpPr/>
          <p:nvPr/>
        </p:nvSpPr>
        <p:spPr>
          <a:xfrm>
            <a:off x="553671" y="1833073"/>
            <a:ext cx="2604863" cy="11403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변수의 요소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크기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이름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내용물에 대한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F1FAAB-8CC5-40C7-8215-6CA1B8CE40D1}"/>
              </a:ext>
            </a:extLst>
          </p:cNvPr>
          <p:cNvSpPr/>
          <p:nvPr/>
        </p:nvSpPr>
        <p:spPr>
          <a:xfrm>
            <a:off x="553671" y="1123076"/>
            <a:ext cx="10897301" cy="4194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데이터를 정의하는 공간</a:t>
            </a:r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D004C0C6-26EE-45BC-8728-6823EE9A7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87047"/>
              </p:ext>
            </p:extLst>
          </p:nvPr>
        </p:nvGraphicFramePr>
        <p:xfrm>
          <a:off x="553671" y="3245899"/>
          <a:ext cx="112412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4127">
                  <a:extLst>
                    <a:ext uri="{9D8B030D-6E8A-4147-A177-3AD203B41FA5}">
                      <a16:colId xmlns:a16="http://schemas.microsoft.com/office/drawing/2014/main" val="510189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Bool</a:t>
                      </a:r>
                      <a:endParaRPr lang="ko-KR" altLang="en-US" sz="12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78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Char</a:t>
                      </a:r>
                      <a:endParaRPr lang="ko-KR" altLang="en-US" sz="12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25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Short</a:t>
                      </a:r>
                      <a:endParaRPr lang="ko-KR" altLang="en-US" sz="12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404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Int</a:t>
                      </a:r>
                      <a:endParaRPr lang="ko-KR" altLang="en-US" sz="12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8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Long </a:t>
                      </a:r>
                      <a:r>
                        <a:rPr lang="en-US" altLang="ko-KR" sz="1200" b="0" dirty="0" err="1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long</a:t>
                      </a:r>
                      <a:endParaRPr lang="ko-KR" altLang="en-US" sz="12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02763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7E55BF-01D3-463C-A22D-F5D5A9B038EC}"/>
              </a:ext>
            </a:extLst>
          </p:cNvPr>
          <p:cNvSpPr/>
          <p:nvPr/>
        </p:nvSpPr>
        <p:spPr>
          <a:xfrm>
            <a:off x="1677798" y="3245899"/>
            <a:ext cx="218114" cy="2728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endParaRPr lang="ko-KR" altLang="en-US" sz="1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41ADAA-22FC-4ACD-BD9F-358D9430E450}"/>
              </a:ext>
            </a:extLst>
          </p:cNvPr>
          <p:cNvSpPr/>
          <p:nvPr/>
        </p:nvSpPr>
        <p:spPr>
          <a:xfrm>
            <a:off x="1677798" y="3515905"/>
            <a:ext cx="536896" cy="2728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endParaRPr lang="ko-KR" altLang="en-US" sz="1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D6B621-79F3-4633-A0D8-C459B0F21C5B}"/>
              </a:ext>
            </a:extLst>
          </p:cNvPr>
          <p:cNvSpPr/>
          <p:nvPr/>
        </p:nvSpPr>
        <p:spPr>
          <a:xfrm>
            <a:off x="1677798" y="3788418"/>
            <a:ext cx="1065402" cy="2728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16</a:t>
            </a:r>
            <a:endParaRPr lang="ko-KR" altLang="en-US" sz="1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8DA263-BC26-4C82-AC00-52CAC16A486D}"/>
              </a:ext>
            </a:extLst>
          </p:cNvPr>
          <p:cNvSpPr/>
          <p:nvPr/>
        </p:nvSpPr>
        <p:spPr>
          <a:xfrm>
            <a:off x="1677798" y="4060930"/>
            <a:ext cx="2013358" cy="2728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32</a:t>
            </a:r>
            <a:endParaRPr lang="ko-KR" altLang="en-US" sz="1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1BB423-9C49-4908-A9BA-1904E7679934}"/>
              </a:ext>
            </a:extLst>
          </p:cNvPr>
          <p:cNvSpPr/>
          <p:nvPr/>
        </p:nvSpPr>
        <p:spPr>
          <a:xfrm>
            <a:off x="1677798" y="4340030"/>
            <a:ext cx="3808602" cy="2728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64</a:t>
            </a:r>
            <a:endParaRPr lang="ko-KR" altLang="en-US" sz="1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16B9EE-D491-421D-92E6-F9D3EA215816}"/>
              </a:ext>
            </a:extLst>
          </p:cNvPr>
          <p:cNvSpPr/>
          <p:nvPr/>
        </p:nvSpPr>
        <p:spPr>
          <a:xfrm>
            <a:off x="4429387" y="3242122"/>
            <a:ext cx="1057013" cy="4194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변수의 크기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6439D5-BDB2-4D44-9F1A-7EAC29E37DD9}"/>
              </a:ext>
            </a:extLst>
          </p:cNvPr>
          <p:cNvSpPr/>
          <p:nvPr/>
        </p:nvSpPr>
        <p:spPr>
          <a:xfrm>
            <a:off x="6002322" y="3161700"/>
            <a:ext cx="1866552" cy="58029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크기를 가진 공간을 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 명명한다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6C7EF1-A827-4EE5-B224-E2A4024281F6}"/>
              </a:ext>
            </a:extLst>
          </p:cNvPr>
          <p:cNvSpPr/>
          <p:nvPr/>
        </p:nvSpPr>
        <p:spPr>
          <a:xfrm>
            <a:off x="6002322" y="4810726"/>
            <a:ext cx="1866552" cy="14052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_Boolean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_interger8bit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_interger16bit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_interge32bit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_interger64bit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_realNumber32bit</a:t>
            </a:r>
          </a:p>
          <a:p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</a:t>
            </a:r>
            <a:r>
              <a:rPr lang="ko-KR" altLang="en-US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</a:t>
            </a:r>
            <a:r>
              <a:rPr lang="en-US" altLang="ko-KR" sz="1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_realNumber64bit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C8919BF-4366-44FB-8336-399722A94AE4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 flipV="1">
            <a:off x="5486400" y="5513370"/>
            <a:ext cx="51592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709429B-1A91-4571-A221-6546EAEAE537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486400" y="3451846"/>
            <a:ext cx="515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A181EE9-EFB8-4186-9E56-5734D9C0D6B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6935598" y="3741991"/>
            <a:ext cx="0" cy="10687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AAEEB7-50D4-4018-9E46-914B08271226}"/>
              </a:ext>
            </a:extLst>
          </p:cNvPr>
          <p:cNvSpPr/>
          <p:nvPr/>
        </p:nvSpPr>
        <p:spPr>
          <a:xfrm>
            <a:off x="8978642" y="3267672"/>
            <a:ext cx="2206305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 명명한 값을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 한다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AC59B59-C53C-4D01-A4CC-27C9B198DE86}"/>
              </a:ext>
            </a:extLst>
          </p:cNvPr>
          <p:cNvCxnSpPr>
            <a:cxnSpLocks/>
            <a:stCxn id="20" idx="3"/>
            <a:endCxn id="42" idx="1"/>
          </p:cNvCxnSpPr>
          <p:nvPr/>
        </p:nvCxnSpPr>
        <p:spPr>
          <a:xfrm flipV="1">
            <a:off x="7868874" y="5509130"/>
            <a:ext cx="330884" cy="42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3C6B689-B270-43EB-A008-03BAE4A340EB}"/>
              </a:ext>
            </a:extLst>
          </p:cNvPr>
          <p:cNvCxnSpPr>
            <a:cxnSpLocks/>
            <a:stCxn id="31" idx="2"/>
            <a:endCxn id="42" idx="0"/>
          </p:cNvCxnSpPr>
          <p:nvPr/>
        </p:nvCxnSpPr>
        <p:spPr>
          <a:xfrm>
            <a:off x="10081795" y="3624044"/>
            <a:ext cx="0" cy="11782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B323A8D8-CC1E-43ED-AA03-4B9372202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758" y="4802247"/>
            <a:ext cx="3764074" cy="141376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60D8BE4-E291-41F1-A718-F7DE35A0D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099" y="1835048"/>
            <a:ext cx="1451295" cy="253292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5B7B21-C131-433F-984E-1517E6D0E102}"/>
              </a:ext>
            </a:extLst>
          </p:cNvPr>
          <p:cNvSpPr/>
          <p:nvPr/>
        </p:nvSpPr>
        <p:spPr>
          <a:xfrm>
            <a:off x="3582099" y="2166984"/>
            <a:ext cx="2604863" cy="46308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num = 01000000 </a:t>
            </a: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값이 저장되어 있음을 의미한다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0A6ED40-7753-4E5E-BA89-86D78A5E8196}"/>
              </a:ext>
            </a:extLst>
          </p:cNvPr>
          <p:cNvCxnSpPr>
            <a:cxnSpLocks/>
            <a:stCxn id="7" idx="3"/>
            <a:endCxn id="50" idx="1"/>
          </p:cNvCxnSpPr>
          <p:nvPr/>
        </p:nvCxnSpPr>
        <p:spPr>
          <a:xfrm flipV="1">
            <a:off x="3158534" y="2398527"/>
            <a:ext cx="423565" cy="4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1387760-AC18-4553-A9F9-5B7A2E77A20A}"/>
              </a:ext>
            </a:extLst>
          </p:cNvPr>
          <p:cNvSpPr/>
          <p:nvPr/>
        </p:nvSpPr>
        <p:spPr>
          <a:xfrm>
            <a:off x="6478457" y="2171209"/>
            <a:ext cx="3287087" cy="46308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num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안의 값은 언제든 변경이 가능하다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num = 00100000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0F3ACA17-F74D-4379-9AB6-384AD0C3F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57" y="1836080"/>
            <a:ext cx="1038717" cy="252260"/>
          </a:xfrm>
          <a:prstGeom prst="rect">
            <a:avLst/>
          </a:prstGeom>
        </p:spPr>
      </p:pic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6689215-FB3A-4CE5-9F4D-CD8B155FDE4A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6186962" y="2398527"/>
            <a:ext cx="291495" cy="4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842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입력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F5726A-2A30-43BA-8FC6-91DCB8350264}"/>
              </a:ext>
            </a:extLst>
          </p:cNvPr>
          <p:cNvSpPr/>
          <p:nvPr/>
        </p:nvSpPr>
        <p:spPr>
          <a:xfrm>
            <a:off x="489311" y="3814697"/>
            <a:ext cx="2264877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입력방법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(Console)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FD1080-9D3A-4506-A0E2-50726D34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0" y="1365649"/>
            <a:ext cx="2264877" cy="205787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8330B63-1ABE-414D-99B5-56AAC995742C}"/>
              </a:ext>
            </a:extLst>
          </p:cNvPr>
          <p:cNvSpPr/>
          <p:nvPr/>
        </p:nvSpPr>
        <p:spPr>
          <a:xfrm>
            <a:off x="4123941" y="1365649"/>
            <a:ext cx="649396" cy="35636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Input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059116-E002-44D4-901C-3C92A3EB4852}"/>
              </a:ext>
            </a:extLst>
          </p:cNvPr>
          <p:cNvSpPr/>
          <p:nvPr/>
        </p:nvSpPr>
        <p:spPr>
          <a:xfrm>
            <a:off x="3038909" y="2514906"/>
            <a:ext cx="731240" cy="193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scanf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93BD2E-C836-4079-AD8D-8AA79C68C78F}"/>
              </a:ext>
            </a:extLst>
          </p:cNvPr>
          <p:cNvSpPr/>
          <p:nvPr/>
        </p:nvSpPr>
        <p:spPr>
          <a:xfrm>
            <a:off x="3038909" y="3145775"/>
            <a:ext cx="731241" cy="193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cin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F0E0C7-E25F-4592-88F6-9F6D5728AEAE}"/>
              </a:ext>
            </a:extLst>
          </p:cNvPr>
          <p:cNvSpPr/>
          <p:nvPr/>
        </p:nvSpPr>
        <p:spPr>
          <a:xfrm>
            <a:off x="4123941" y="1962667"/>
            <a:ext cx="649396" cy="193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5D2A28-3031-4EC6-883A-5DC8903C378B}"/>
              </a:ext>
            </a:extLst>
          </p:cNvPr>
          <p:cNvSpPr/>
          <p:nvPr/>
        </p:nvSpPr>
        <p:spPr>
          <a:xfrm>
            <a:off x="4123941" y="2514906"/>
            <a:ext cx="649396" cy="193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6240C8-3929-4383-BA5A-FA02B94C2FF3}"/>
              </a:ext>
            </a:extLst>
          </p:cNvPr>
          <p:cNvSpPr/>
          <p:nvPr/>
        </p:nvSpPr>
        <p:spPr>
          <a:xfrm>
            <a:off x="4123941" y="3148726"/>
            <a:ext cx="649396" cy="193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2C6B998-604B-4613-A311-5FA873A565B5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4448639" y="1722018"/>
            <a:ext cx="0" cy="240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C353DA3-B079-4847-B783-EA15EAB1207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448639" y="2155885"/>
            <a:ext cx="0" cy="359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F74D324-4014-4A38-A727-DE3C88D7FC3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448639" y="2708124"/>
            <a:ext cx="0" cy="4406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0C63FAE-8C42-4D5A-B891-829D46D9F292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3770149" y="2611515"/>
            <a:ext cx="3537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D064741-DF35-4D88-B842-4A2DC6D37914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3770150" y="3242384"/>
            <a:ext cx="353791" cy="29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A137C3-5C0E-4584-BAAB-0E150A599FF8}"/>
              </a:ext>
            </a:extLst>
          </p:cNvPr>
          <p:cNvSpPr/>
          <p:nvPr/>
        </p:nvSpPr>
        <p:spPr>
          <a:xfrm>
            <a:off x="3038909" y="3815023"/>
            <a:ext cx="1734428" cy="35637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latin typeface="휴먼모음T" panose="02030504000101010101" pitchFamily="18" charset="-127"/>
                <a:ea typeface="휴먼모음T" panose="02030504000101010101" pitchFamily="18" charset="-127"/>
              </a:rPr>
              <a:t>입력값의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정의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CD48D4B-A4DA-4703-B8CA-AEAD01FF6E12}"/>
              </a:ext>
            </a:extLst>
          </p:cNvPr>
          <p:cNvSpPr/>
          <p:nvPr/>
        </p:nvSpPr>
        <p:spPr>
          <a:xfrm>
            <a:off x="489310" y="4518949"/>
            <a:ext cx="5606690" cy="18000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컴퓨터는 특정 변수를 찾는 방법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주소 값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[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저레벨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언어 특징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]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컴퓨터는 변수를 만들 때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그 변수를 어느 공간에 저장해 놓는지를 확인하는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『</a:t>
            </a:r>
            <a:r>
              <a:rPr lang="ko-KR" altLang="en-US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주소값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』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임의로 저장한다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언어 입력문에서 사용되는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&amp;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그 주소 값을 의미한다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</a:p>
          <a:p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주소 값에 대한 자세한 내용은 이후 포인터에서 자세히 알아보도록 한다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B9DE579-B56D-43A9-BA62-51961E9AAA66}"/>
              </a:ext>
            </a:extLst>
          </p:cNvPr>
          <p:cNvSpPr/>
          <p:nvPr/>
        </p:nvSpPr>
        <p:spPr>
          <a:xfrm>
            <a:off x="6302482" y="1365649"/>
            <a:ext cx="2604863" cy="11403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입력문</a:t>
            </a:r>
          </a:p>
        </p:txBody>
      </p:sp>
    </p:spTree>
    <p:extLst>
      <p:ext uri="{BB962C8B-B14F-4D97-AF65-F5344CB8AC3E}">
        <p14:creationId xmlns:p14="http://schemas.microsoft.com/office/powerpoint/2010/main" val="52810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연산자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491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조건문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151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 err="1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반복문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74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함수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071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–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변수 심화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19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프로그래밍 언어의 기본 문법 </a:t>
            </a: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프로그램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7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데이터 관리 및 자료 구조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251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8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E01D772-A448-469F-9ABC-0B153DB7C425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781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EA11733-0072-41F4-9CAB-418873B0DFA2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15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45EAE65-7E72-4C17-94F1-695E0B5E5D9A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F5DDD1-15B7-4548-A238-C1A57178999E}"/>
              </a:ext>
            </a:extLst>
          </p:cNvPr>
          <p:cNvSpPr/>
          <p:nvPr/>
        </p:nvSpPr>
        <p:spPr>
          <a:xfrm>
            <a:off x="7478638" y="5916873"/>
            <a:ext cx="4797753" cy="7520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차후 알게 될 개념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Format :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형식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서식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체제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/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형 등을 재구성하는 형식</a:t>
            </a:r>
          </a:p>
        </p:txBody>
      </p:sp>
    </p:spTree>
    <p:extLst>
      <p:ext uri="{BB962C8B-B14F-4D97-AF65-F5344CB8AC3E}">
        <p14:creationId xmlns:p14="http://schemas.microsoft.com/office/powerpoint/2010/main" val="1253452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45EAE65-7E72-4C17-94F1-695E0B5E5D9A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987E98-D16B-4CBD-9EED-16C2E4831F34}"/>
              </a:ext>
            </a:extLst>
          </p:cNvPr>
          <p:cNvSpPr/>
          <p:nvPr/>
        </p:nvSpPr>
        <p:spPr>
          <a:xfrm>
            <a:off x="411061" y="981512"/>
            <a:ext cx="2734811" cy="5402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컴퓨터의 </a:t>
            </a:r>
            <a:r>
              <a:rPr lang="en-US" altLang="ko-KR" sz="1400" dirty="0"/>
              <a:t>5</a:t>
            </a:r>
            <a:r>
              <a:rPr lang="ko-KR" altLang="en-US" sz="1400" dirty="0"/>
              <a:t>대 구성요소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프로그램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컴파일러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인터프리터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컴퓨터의 언어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프로그래밍 언어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치환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명제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마인드맵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언어의 발전 과정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컴퓨터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라이브러리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포맷</a:t>
            </a:r>
          </a:p>
        </p:txBody>
      </p:sp>
    </p:spTree>
    <p:extLst>
      <p:ext uri="{BB962C8B-B14F-4D97-AF65-F5344CB8AC3E}">
        <p14:creationId xmlns:p14="http://schemas.microsoft.com/office/powerpoint/2010/main" val="850559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7F7670-D735-48F4-ABE2-8A5E139B833C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F8457A-E20F-4DD6-9EFA-B9B799E2975E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349CF1-A458-4312-9AAC-63BDF3A1DCF4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참고문헌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A09E05-BD92-4357-BB87-CAA6ADEDEA37}"/>
              </a:ext>
            </a:extLst>
          </p:cNvPr>
          <p:cNvSpPr/>
          <p:nvPr/>
        </p:nvSpPr>
        <p:spPr>
          <a:xfrm>
            <a:off x="411061" y="981512"/>
            <a:ext cx="11417416" cy="5402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윤성우의 열혈 </a:t>
            </a:r>
            <a:r>
              <a:rPr lang="en-US" altLang="ko-KR" sz="1400" dirty="0"/>
              <a:t>C </a:t>
            </a:r>
            <a:r>
              <a:rPr lang="ko-KR" altLang="en-US" sz="1400" dirty="0"/>
              <a:t>프로그래밍 </a:t>
            </a:r>
            <a:r>
              <a:rPr lang="en-US" altLang="ko-KR" sz="1400" dirty="0"/>
              <a:t>– </a:t>
            </a:r>
            <a:r>
              <a:rPr lang="ko-KR" altLang="en-US" sz="1400" dirty="0"/>
              <a:t>오렌지 미디어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윤성우의 열혈 </a:t>
            </a:r>
            <a:r>
              <a:rPr lang="en-US" altLang="ko-KR" sz="1400" dirty="0"/>
              <a:t>C++ </a:t>
            </a:r>
            <a:r>
              <a:rPr lang="ko-KR" altLang="en-US" sz="1400" dirty="0"/>
              <a:t>프로그래밍 </a:t>
            </a:r>
            <a:r>
              <a:rPr lang="en-US" altLang="ko-KR" sz="1400" dirty="0"/>
              <a:t>– </a:t>
            </a:r>
            <a:r>
              <a:rPr lang="ko-KR" altLang="en-US" sz="1400" dirty="0"/>
              <a:t>오렌지 미디어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IT</a:t>
            </a:r>
            <a:r>
              <a:rPr lang="ko-KR" altLang="en-US" sz="1400" dirty="0"/>
              <a:t> </a:t>
            </a:r>
            <a:r>
              <a:rPr lang="en-US" altLang="ko-KR" sz="1400" dirty="0"/>
              <a:t>COOKBOOK</a:t>
            </a:r>
            <a:r>
              <a:rPr lang="ko-KR" altLang="en-US" sz="1400" dirty="0"/>
              <a:t> </a:t>
            </a:r>
            <a:r>
              <a:rPr lang="en-US" altLang="ko-KR" sz="1400" dirty="0"/>
              <a:t>C</a:t>
            </a:r>
            <a:r>
              <a:rPr lang="ko-KR" altLang="en-US" sz="1400" dirty="0"/>
              <a:t>로 배우는 쉬운 자료구조 </a:t>
            </a:r>
            <a:r>
              <a:rPr lang="en-US" altLang="ko-KR" sz="1400" dirty="0"/>
              <a:t>– </a:t>
            </a:r>
            <a:r>
              <a:rPr lang="ko-KR" altLang="en-US" sz="1400" dirty="0"/>
              <a:t>한빛 미디어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뇌를 자극하는 알고리즘 </a:t>
            </a:r>
            <a:r>
              <a:rPr lang="en-US" altLang="ko-KR" sz="1400" dirty="0"/>
              <a:t>– </a:t>
            </a:r>
            <a:r>
              <a:rPr lang="ko-KR" altLang="en-US" sz="1400" dirty="0"/>
              <a:t>한빛 미디어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45145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1046</Words>
  <Application>Microsoft Office PowerPoint</Application>
  <PresentationFormat>와이드스크린</PresentationFormat>
  <Paragraphs>340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맑은 고딕</vt:lpstr>
      <vt:lpstr>휴먼매직체</vt:lpstr>
      <vt:lpstr>휴먼모음T</vt:lpstr>
      <vt:lpstr>휴먼엑스포</vt:lpstr>
      <vt:lpstr>휴먼편지체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dogyu lee</dc:creator>
  <cp:lastModifiedBy>dogyu lee</cp:lastModifiedBy>
  <cp:revision>79</cp:revision>
  <dcterms:created xsi:type="dcterms:W3CDTF">2021-11-05T15:12:26Z</dcterms:created>
  <dcterms:modified xsi:type="dcterms:W3CDTF">2022-04-02T04:11:18Z</dcterms:modified>
</cp:coreProperties>
</file>